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61" r:id="rId1"/>
  </p:sldMasterIdLst>
  <p:notesMasterIdLst>
    <p:notesMasterId r:id="rId23"/>
  </p:notesMasterIdLst>
  <p:handoutMasterIdLst>
    <p:handoutMasterId r:id="rId24"/>
  </p:handoutMasterIdLst>
  <p:sldIdLst>
    <p:sldId id="2134805801" r:id="rId2"/>
    <p:sldId id="263" r:id="rId3"/>
    <p:sldId id="303" r:id="rId4"/>
    <p:sldId id="2134805788" r:id="rId5"/>
    <p:sldId id="471" r:id="rId6"/>
    <p:sldId id="2134805800" r:id="rId7"/>
    <p:sldId id="2134805784" r:id="rId8"/>
    <p:sldId id="2134805786" r:id="rId9"/>
    <p:sldId id="2134805798" r:id="rId10"/>
    <p:sldId id="2134805799" r:id="rId11"/>
    <p:sldId id="2134805790" r:id="rId12"/>
    <p:sldId id="2134805791" r:id="rId13"/>
    <p:sldId id="2134805792" r:id="rId14"/>
    <p:sldId id="2134805797" r:id="rId15"/>
    <p:sldId id="2134805793" r:id="rId16"/>
    <p:sldId id="2134805794" r:id="rId17"/>
    <p:sldId id="2134805795" r:id="rId18"/>
    <p:sldId id="2134805796" r:id="rId19"/>
    <p:sldId id="480" r:id="rId20"/>
    <p:sldId id="481" r:id="rId21"/>
    <p:sldId id="2134805785" r:id="rId22"/>
  </p:sldIdLst>
  <p:sldSz cx="12192000" cy="6858000"/>
  <p:notesSz cx="6797675" cy="9926638"/>
  <p:embeddedFontLst>
    <p:embeddedFont>
      <p:font typeface="IBM Plex Sans" panose="020B0503050203000203" pitchFamily="34" charset="0"/>
      <p:regular r:id="rId25"/>
      <p:bold r:id="rId26"/>
      <p:italic r:id="rId27"/>
      <p:boldItalic r:id="rId28"/>
    </p:embeddedFont>
    <p:embeddedFont>
      <p:font typeface="IBM Plex Sans Medium" panose="020B0603050203000203" pitchFamily="34" charset="0"/>
      <p:regular r:id="rId29"/>
      <p:italic r:id="rId30"/>
    </p:embeddedFont>
    <p:embeddedFont>
      <p:font typeface="IBM Plex Sans SemiBold" panose="020B0703050203000203" pitchFamily="34" charset="0"/>
      <p:regular r:id="rId31"/>
      <p:bold r:id="rId32"/>
      <p:italic r:id="rId33"/>
      <p:boldItalic r:id="rId34"/>
    </p:embeddedFont>
    <p:embeddedFont>
      <p:font typeface="IBM Plex Sans Text" panose="020B0604020202020204" charset="0"/>
      <p:regular r:id="rId35"/>
      <p:italic r:id="rId36"/>
    </p:embeddedFont>
    <p:embeddedFont>
      <p:font typeface="Roboto" panose="02000000000000000000" pitchFamily="2" charset="0"/>
      <p:regular r:id="rId37"/>
      <p:bold r:id="rId38"/>
      <p:italic r:id="rId39"/>
      <p:boldItalic r:id="rId40"/>
    </p:embeddedFont>
    <p:embeddedFont>
      <p:font typeface="Roboto Bold" panose="020B0604020202020204" charset="0"/>
      <p:bold r:id="rId41"/>
      <p:italic r:id="rId42"/>
      <p:boldItalic r:id="rId43"/>
    </p:embeddedFont>
    <p:embeddedFont>
      <p:font typeface="Roboto Regular" panose="020B0604020202020204" charset="0"/>
      <p:regular r:id="rId44"/>
      <p:bold r:id="rId45"/>
      <p:italic r:id="rId46"/>
      <p:boldItalic r:id="rId47"/>
    </p:embeddedFont>
    <p:embeddedFont>
      <p:font typeface="Segoe UI" panose="020B0502040204020203" pitchFamily="34" charset="0"/>
      <p:regular r:id="rId48"/>
      <p:bold r:id="rId49"/>
      <p:italic r:id="rId50"/>
      <p:boldItalic r:id="rId51"/>
    </p:embeddedFont>
  </p:embeddedFontLst>
  <p:defaultTextStyle>
    <a:defPPr>
      <a:defRPr lang="en-US"/>
    </a:defPPr>
    <a:lvl1pPr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b="1"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b="1"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Intro" id="{D71A75A3-E1F9-BB43-BA52-0CD7E5C3B444}">
          <p14:sldIdLst>
            <p14:sldId id="2134805801"/>
            <p14:sldId id="263"/>
            <p14:sldId id="303"/>
          </p14:sldIdLst>
        </p14:section>
        <p14:section name="Agenda" id="{2763D8F1-9700-4581-A48C-B6492A868AD7}">
          <p14:sldIdLst>
            <p14:sldId id="2134805788"/>
            <p14:sldId id="471"/>
            <p14:sldId id="2134805800"/>
          </p14:sldIdLst>
        </p14:section>
        <p14:section name="Optimized Locking" id="{7994749C-8C40-4665-B335-C1F9DB253F31}">
          <p14:sldIdLst>
            <p14:sldId id="2134805784"/>
          </p14:sldIdLst>
        </p14:section>
        <p14:section name="Optimized sp_executesql" id="{BCDE5E2A-E925-4158-97E6-B27B4BDF8AD2}">
          <p14:sldIdLst>
            <p14:sldId id="2134805786"/>
          </p14:sldIdLst>
        </p14:section>
        <p14:section name="Optional parameter plan optimization" id="{7C096378-319E-4AD6-9868-175C5A179C85}">
          <p14:sldIdLst>
            <p14:sldId id="2134805798"/>
            <p14:sldId id="2134805799"/>
          </p14:sldIdLst>
        </p14:section>
        <p14:section name="ABORT_QUERY_EXECUTION query hint" id="{464E9F46-46B9-45F5-9A3B-58D45D59CD86}">
          <p14:sldIdLst>
            <p14:sldId id="2134805790"/>
          </p14:sldIdLst>
        </p14:section>
        <p14:section name="Query Store for secondary replicas" id="{3468599B-9182-4B9E-8746-94F90E07D7BF}">
          <p14:sldIdLst>
            <p14:sldId id="2134805791"/>
            <p14:sldId id="2134805792"/>
          </p14:sldIdLst>
        </p14:section>
        <p14:section name="Security cache improvements" id="{16C0FF0D-8F46-48A1-A8E8-339A3F06B0C9}">
          <p14:sldIdLst>
            <p14:sldId id="2134805797"/>
          </p14:sldIdLst>
        </p14:section>
        <p14:section name="Backups on secondary replicas" id="{F985FEA7-B24A-4B7A-BC01-A4046EC696F0}">
          <p14:sldIdLst>
            <p14:sldId id="2134805793"/>
            <p14:sldId id="2134805794"/>
          </p14:sldIdLst>
        </p14:section>
        <p14:section name="ZSTD Backup compression algorithm" id="{E7895DFC-302D-4B87-9D73-6418748155EB}">
          <p14:sldIdLst>
            <p14:sldId id="2134805795"/>
            <p14:sldId id="2134805796"/>
          </p14:sldIdLst>
        </p14:section>
        <p14:section name="Accelerated Database Recovery" id="{DCFBB0BD-9E0C-4FDD-8700-723A2E2AB118}">
          <p14:sldIdLst>
            <p14:sldId id="480"/>
            <p14:sldId id="481"/>
          </p14:sldIdLst>
        </p14:section>
        <p14:section name="Outro" id="{4CF738BE-9173-4A72-8E3F-A9D46EE3658F}">
          <p14:sldIdLst>
            <p14:sldId id="213480578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a Hallengren" initials="OH" lastIdx="1" clrIdx="0">
    <p:extLst>
      <p:ext uri="{19B8F6BF-5375-455C-9EA6-DF929625EA0E}">
        <p15:presenceInfo xmlns:p15="http://schemas.microsoft.com/office/powerpoint/2012/main" userId="fa067cfe517c19f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6ED7"/>
    <a:srgbClr val="E6E6E6"/>
    <a:srgbClr val="F2F2F2"/>
    <a:srgbClr val="222222"/>
    <a:srgbClr val="373737"/>
    <a:srgbClr val="000000"/>
    <a:srgbClr val="CC0000"/>
    <a:srgbClr val="8AB6EC"/>
    <a:srgbClr val="B1CEF2"/>
    <a:srgbClr val="D8E7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4" autoAdjust="0"/>
    <p:restoredTop sz="90486" autoAdjust="0"/>
  </p:normalViewPr>
  <p:slideViewPr>
    <p:cSldViewPr snapToGrid="0">
      <p:cViewPr varScale="1">
        <p:scale>
          <a:sx n="115" d="100"/>
          <a:sy n="115" d="100"/>
        </p:scale>
        <p:origin x="246"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snapToGrid="0" snapToObjects="1">
      <p:cViewPr varScale="1">
        <p:scale>
          <a:sx n="181" d="100"/>
          <a:sy n="181" d="100"/>
        </p:scale>
        <p:origin x="7614" y="18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0398EB52-2B16-4D4A-8A47-B858A822CB1B}" type="slidenum">
              <a:rPr lang="en-US" b="0" smtClean="0">
                <a:latin typeface="Roboto Bold"/>
                <a:cs typeface="Roboto Bold"/>
              </a:rPr>
              <a:t>‹#›</a:t>
            </a:fld>
            <a:endParaRPr lang="en-US" b="0" dirty="0">
              <a:latin typeface="Roboto Bold"/>
              <a:cs typeface="Roboto Bold"/>
            </a:endParaRPr>
          </a:p>
        </p:txBody>
      </p:sp>
      <p:pic>
        <p:nvPicPr>
          <p:cNvPr id="6" name="Graphic 5">
            <a:extLst>
              <a:ext uri="{FF2B5EF4-FFF2-40B4-BE49-F238E27FC236}">
                <a16:creationId xmlns:a16="http://schemas.microsoft.com/office/drawing/2014/main" id="{D202E09B-4D77-6C49-A873-7EB765D8D3B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4320" y="9200394"/>
            <a:ext cx="1691640" cy="492113"/>
          </a:xfrm>
          <a:prstGeom prst="rect">
            <a:avLst/>
          </a:prstGeom>
        </p:spPr>
      </p:pic>
    </p:spTree>
    <p:extLst>
      <p:ext uri="{BB962C8B-B14F-4D97-AF65-F5344CB8AC3E}">
        <p14:creationId xmlns:p14="http://schemas.microsoft.com/office/powerpoint/2010/main" val="1177031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88579" y="89551"/>
            <a:ext cx="2946400" cy="498475"/>
          </a:xfrm>
          <a:prstGeom prst="rect">
            <a:avLst/>
          </a:prstGeom>
        </p:spPr>
        <p:txBody>
          <a:bodyPr vert="horz" lIns="91440" tIns="45720" rIns="91440" bIns="45720" rtlCol="0"/>
          <a:lstStyle>
            <a:lvl1pPr algn="l" fontAlgn="auto">
              <a:spcBef>
                <a:spcPts val="0"/>
              </a:spcBef>
              <a:spcAft>
                <a:spcPts val="0"/>
              </a:spcAft>
              <a:defRPr sz="1200" b="0" i="0" smtClean="0">
                <a:latin typeface="Roboto Regular"/>
                <a:cs typeface="Roboto Regular"/>
              </a:defRPr>
            </a:lvl1pPr>
          </a:lstStyle>
          <a:p>
            <a:pPr>
              <a:defRPr/>
            </a:pPr>
            <a:fld id="{F27B4D97-523D-4DEF-962B-78D09A9489A3}" type="datetimeFigureOut">
              <a:rPr lang="en-US" smtClean="0"/>
              <a:pPr>
                <a:defRPr/>
              </a:pPr>
              <a:t>10/26/2025</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8" name="Graphic 7">
            <a:extLst>
              <a:ext uri="{FF2B5EF4-FFF2-40B4-BE49-F238E27FC236}">
                <a16:creationId xmlns:a16="http://schemas.microsoft.com/office/drawing/2014/main" id="{A9DBC87B-364D-BB46-9EF0-ECD5E97F7F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4320" y="9200394"/>
            <a:ext cx="1691640" cy="492113"/>
          </a:xfrm>
          <a:prstGeom prst="rect">
            <a:avLst/>
          </a:prstGeom>
        </p:spPr>
      </p:pic>
    </p:spTree>
    <p:extLst>
      <p:ext uri="{BB962C8B-B14F-4D97-AF65-F5344CB8AC3E}">
        <p14:creationId xmlns:p14="http://schemas.microsoft.com/office/powerpoint/2010/main" val="14505870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982478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56952-E15D-2797-5C6C-C739C796E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9F5C0-58A9-74FA-21B9-9B6287EC1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9B346-5DA8-34EB-E3D7-44164C6ED83B}"/>
              </a:ext>
            </a:extLst>
          </p:cNvPr>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612376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547522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A431F-6576-966B-EB46-8BDC0EFFA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7948B-BDEB-7295-5DE2-0DC510A89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8F784-7E47-6F39-5F89-6AD6B215507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53045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7A40D8D-6172-2A4B-8BAF-FBC8AD247AC4}"/>
              </a:ext>
            </a:extLst>
          </p:cNvPr>
          <p:cNvSpPr>
            <a:spLocks noGrp="1"/>
          </p:cNvSpPr>
          <p:nvPr>
            <p:ph type="title" hasCustomPrompt="1"/>
          </p:nvPr>
        </p:nvSpPr>
        <p:spPr>
          <a:xfrm>
            <a:off x="434091" y="1822720"/>
            <a:ext cx="7982322" cy="1935532"/>
          </a:xfrm>
        </p:spPr>
        <p:txBody>
          <a:bodyPr anchor="t">
            <a:noAutofit/>
          </a:bodyPr>
          <a:lstStyle>
            <a:lvl1pPr>
              <a:defRPr sz="4400" b="1" i="0">
                <a:solidFill>
                  <a:schemeClr val="tx1"/>
                </a:solidFill>
                <a:latin typeface="IBM Plex Sans" panose="020B0503050203000203" pitchFamily="34" charset="77"/>
              </a:defRPr>
            </a:lvl1pPr>
          </a:lstStyle>
          <a:p>
            <a:r>
              <a:rPr lang="en-GB" dirty="0"/>
              <a:t>Session Title goes here</a:t>
            </a:r>
            <a:endParaRPr lang="en-US" dirty="0"/>
          </a:p>
        </p:txBody>
      </p:sp>
      <p:sp>
        <p:nvSpPr>
          <p:cNvPr id="19" name="Content Placeholder 2">
            <a:extLst>
              <a:ext uri="{FF2B5EF4-FFF2-40B4-BE49-F238E27FC236}">
                <a16:creationId xmlns:a16="http://schemas.microsoft.com/office/drawing/2014/main" id="{FD3C604D-DE78-654D-AE05-9880A68AB709}"/>
              </a:ext>
            </a:extLst>
          </p:cNvPr>
          <p:cNvSpPr>
            <a:spLocks noGrp="1"/>
          </p:cNvSpPr>
          <p:nvPr>
            <p:ph idx="11" hasCustomPrompt="1"/>
          </p:nvPr>
        </p:nvSpPr>
        <p:spPr>
          <a:xfrm>
            <a:off x="424542" y="4141591"/>
            <a:ext cx="6116493" cy="553208"/>
          </a:xfrm>
        </p:spPr>
        <p:txBody>
          <a:bodyPr anchor="ctr">
            <a:normAutofit/>
          </a:bodyPr>
          <a:lstStyle>
            <a:lvl1pPr marL="0" indent="0">
              <a:lnSpc>
                <a:spcPct val="100000"/>
              </a:lnSpc>
              <a:buNone/>
              <a:defRPr sz="2800" b="1" i="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Name</a:t>
            </a:r>
          </a:p>
        </p:txBody>
      </p:sp>
      <p:sp>
        <p:nvSpPr>
          <p:cNvPr id="21" name="Content Placeholder 2">
            <a:extLst>
              <a:ext uri="{FF2B5EF4-FFF2-40B4-BE49-F238E27FC236}">
                <a16:creationId xmlns:a16="http://schemas.microsoft.com/office/drawing/2014/main" id="{CADD311C-2B1E-7E4F-984B-5CE909C5D740}"/>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Job title</a:t>
            </a:r>
          </a:p>
        </p:txBody>
      </p:sp>
      <p:sp>
        <p:nvSpPr>
          <p:cNvPr id="22" name="Content Placeholder 2">
            <a:extLst>
              <a:ext uri="{FF2B5EF4-FFF2-40B4-BE49-F238E27FC236}">
                <a16:creationId xmlns:a16="http://schemas.microsoft.com/office/drawing/2014/main" id="{842615F9-6222-F34E-8DAC-4784780DE9BA}"/>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Organization/business</a:t>
            </a:r>
          </a:p>
        </p:txBody>
      </p:sp>
    </p:spTree>
    <p:extLst>
      <p:ext uri="{BB962C8B-B14F-4D97-AF65-F5344CB8AC3E}">
        <p14:creationId xmlns:p14="http://schemas.microsoft.com/office/powerpoint/2010/main" val="637687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eaker bio">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11C7A70-1A27-8C46-B788-29D87A2F4A48}"/>
              </a:ext>
            </a:extLst>
          </p:cNvPr>
          <p:cNvSpPr>
            <a:spLocks noGrp="1"/>
          </p:cNvSpPr>
          <p:nvPr>
            <p:ph type="title" hasCustomPrompt="1"/>
          </p:nvPr>
        </p:nvSpPr>
        <p:spPr>
          <a:xfrm>
            <a:off x="424541" y="451274"/>
            <a:ext cx="6137623" cy="711882"/>
          </a:xfrm>
        </p:spPr>
        <p:txBody>
          <a:bodyPr>
            <a:noAutofit/>
          </a:bodyPr>
          <a:lstStyle>
            <a:lvl1pPr marL="0" marR="0" indent="0" algn="l" defTabSz="914400" rtl="0" eaLnBrk="1" fontAlgn="base" latinLnBrk="0" hangingPunct="1">
              <a:lnSpc>
                <a:spcPct val="90000"/>
              </a:lnSpc>
              <a:spcBef>
                <a:spcPct val="0"/>
              </a:spcBef>
              <a:spcAft>
                <a:spcPct val="0"/>
              </a:spcAft>
              <a:buClrTx/>
              <a:buSzTx/>
              <a:buFontTx/>
              <a:buNone/>
              <a:tabLst/>
              <a:defRPr sz="6000" b="1" i="0">
                <a:solidFill>
                  <a:schemeClr val="tx1"/>
                </a:solidFill>
                <a:latin typeface="IBM Plex Sans" panose="020B0503050203000203" pitchFamily="34" charset="77"/>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GB" dirty="0"/>
              <a:t>FirstName</a:t>
            </a:r>
            <a:endParaRPr lang="en-US" dirty="0"/>
          </a:p>
        </p:txBody>
      </p:sp>
      <p:sp>
        <p:nvSpPr>
          <p:cNvPr id="18" name="Content Placeholder 2">
            <a:extLst>
              <a:ext uri="{FF2B5EF4-FFF2-40B4-BE49-F238E27FC236}">
                <a16:creationId xmlns:a16="http://schemas.microsoft.com/office/drawing/2014/main" id="{66227045-61B0-9544-AEC3-12180B09CBA3}"/>
              </a:ext>
            </a:extLst>
          </p:cNvPr>
          <p:cNvSpPr>
            <a:spLocks noGrp="1"/>
          </p:cNvSpPr>
          <p:nvPr>
            <p:ph idx="1" hasCustomPrompt="1"/>
          </p:nvPr>
        </p:nvSpPr>
        <p:spPr>
          <a:xfrm>
            <a:off x="424542" y="2560817"/>
            <a:ext cx="6035252" cy="647786"/>
          </a:xfrm>
        </p:spPr>
        <p:txBody>
          <a:bodyPr anchor="t">
            <a:noAutofit/>
          </a:bodyPr>
          <a:lstStyle>
            <a:lvl1pPr marL="0" indent="0">
              <a:lnSpc>
                <a:spcPct val="100000"/>
              </a:lnSpc>
              <a:buNone/>
              <a:defRPr sz="36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Job title</a:t>
            </a:r>
          </a:p>
        </p:txBody>
      </p:sp>
      <p:sp>
        <p:nvSpPr>
          <p:cNvPr id="3" name="Picture Placeholder 2">
            <a:extLst>
              <a:ext uri="{FF2B5EF4-FFF2-40B4-BE49-F238E27FC236}">
                <a16:creationId xmlns:a16="http://schemas.microsoft.com/office/drawing/2014/main" id="{088977B7-700C-C149-8536-47AB7A78B9E3}"/>
              </a:ext>
            </a:extLst>
          </p:cNvPr>
          <p:cNvSpPr>
            <a:spLocks noGrp="1"/>
          </p:cNvSpPr>
          <p:nvPr>
            <p:ph type="pic" sz="quarter" idx="15"/>
          </p:nvPr>
        </p:nvSpPr>
        <p:spPr>
          <a:xfrm>
            <a:off x="6702439" y="378547"/>
            <a:ext cx="1685405" cy="1685405"/>
          </a:xfrm>
          <a:prstGeom prst="ellipse">
            <a:avLst/>
          </a:prstGeom>
          <a:solidFill>
            <a:schemeClr val="tx1"/>
          </a:solidFill>
        </p:spPr>
        <p:txBody>
          <a:bodyPr/>
          <a:lstStyle/>
          <a:p>
            <a:endParaRPr lang="en-US" dirty="0"/>
          </a:p>
        </p:txBody>
      </p:sp>
      <p:sp>
        <p:nvSpPr>
          <p:cNvPr id="22" name="Content Placeholder 2">
            <a:extLst>
              <a:ext uri="{FF2B5EF4-FFF2-40B4-BE49-F238E27FC236}">
                <a16:creationId xmlns:a16="http://schemas.microsoft.com/office/drawing/2014/main" id="{61A01EAC-4EF5-AE4F-970E-2C5157FA52A4}"/>
              </a:ext>
            </a:extLst>
          </p:cNvPr>
          <p:cNvSpPr>
            <a:spLocks noGrp="1"/>
          </p:cNvSpPr>
          <p:nvPr>
            <p:ph idx="12" hasCustomPrompt="1"/>
          </p:nvPr>
        </p:nvSpPr>
        <p:spPr>
          <a:xfrm>
            <a:off x="858416" y="4673325"/>
            <a:ext cx="5601378" cy="553208"/>
          </a:xfrm>
        </p:spPr>
        <p:txBody>
          <a:bodyPr anchor="ctr">
            <a:normAutofit/>
          </a:bodyPr>
          <a:lstStyle>
            <a:lvl1pPr marL="0" indent="0">
              <a:lnSpc>
                <a:spcPct val="100000"/>
              </a:lnSpc>
              <a:buNone/>
              <a:defRPr sz="2400" b="1" i="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Contact/social</a:t>
            </a:r>
          </a:p>
        </p:txBody>
      </p:sp>
      <p:sp>
        <p:nvSpPr>
          <p:cNvPr id="23" name="Content Placeholder 2">
            <a:extLst>
              <a:ext uri="{FF2B5EF4-FFF2-40B4-BE49-F238E27FC236}">
                <a16:creationId xmlns:a16="http://schemas.microsoft.com/office/drawing/2014/main" id="{8FB3DAF8-2F81-FC4D-8CB0-8C0CB1AA4D40}"/>
              </a:ext>
            </a:extLst>
          </p:cNvPr>
          <p:cNvSpPr>
            <a:spLocks noGrp="1"/>
          </p:cNvSpPr>
          <p:nvPr>
            <p:ph idx="13" hasCustomPrompt="1"/>
          </p:nvPr>
        </p:nvSpPr>
        <p:spPr>
          <a:xfrm>
            <a:off x="858416" y="5244387"/>
            <a:ext cx="5601378" cy="553208"/>
          </a:xfrm>
        </p:spPr>
        <p:txBody>
          <a:bodyPr anchor="ctr">
            <a:normAutofit/>
          </a:bodyPr>
          <a:lstStyle>
            <a:lvl1pPr marL="0" indent="0">
              <a:lnSpc>
                <a:spcPct val="100000"/>
              </a:lnSpc>
              <a:buNone/>
              <a:defRPr sz="2400" b="1" i="0" baseline="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Contact/social</a:t>
            </a:r>
          </a:p>
        </p:txBody>
      </p:sp>
      <p:sp>
        <p:nvSpPr>
          <p:cNvPr id="24" name="Content Placeholder 2">
            <a:extLst>
              <a:ext uri="{FF2B5EF4-FFF2-40B4-BE49-F238E27FC236}">
                <a16:creationId xmlns:a16="http://schemas.microsoft.com/office/drawing/2014/main" id="{85B937D2-7E45-D541-81A8-ABE79A9EE496}"/>
              </a:ext>
            </a:extLst>
          </p:cNvPr>
          <p:cNvSpPr>
            <a:spLocks noGrp="1"/>
          </p:cNvSpPr>
          <p:nvPr>
            <p:ph idx="14" hasCustomPrompt="1"/>
          </p:nvPr>
        </p:nvSpPr>
        <p:spPr>
          <a:xfrm>
            <a:off x="858416" y="5815450"/>
            <a:ext cx="5601378" cy="553208"/>
          </a:xfrm>
        </p:spPr>
        <p:txBody>
          <a:bodyPr anchor="ctr">
            <a:normAutofit/>
          </a:bodyPr>
          <a:lstStyle>
            <a:lvl1pPr marL="0" indent="0">
              <a:lnSpc>
                <a:spcPct val="100000"/>
              </a:lnSpc>
              <a:buNone/>
              <a:defRPr sz="2400" b="1" i="0" baseline="0">
                <a:solidFill>
                  <a:schemeClr val="tx1"/>
                </a:solidFill>
                <a:latin typeface="IBM Plex Sans SemiBold"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Contact/social</a:t>
            </a:r>
          </a:p>
        </p:txBody>
      </p:sp>
      <p:sp>
        <p:nvSpPr>
          <p:cNvPr id="31" name="Content Placeholder 2">
            <a:extLst>
              <a:ext uri="{FF2B5EF4-FFF2-40B4-BE49-F238E27FC236}">
                <a16:creationId xmlns:a16="http://schemas.microsoft.com/office/drawing/2014/main" id="{540AA7F0-2E50-214E-9056-0901887064EF}"/>
              </a:ext>
            </a:extLst>
          </p:cNvPr>
          <p:cNvSpPr>
            <a:spLocks noGrp="1"/>
          </p:cNvSpPr>
          <p:nvPr>
            <p:ph idx="17" hasCustomPrompt="1"/>
          </p:nvPr>
        </p:nvSpPr>
        <p:spPr>
          <a:xfrm>
            <a:off x="424542" y="3219579"/>
            <a:ext cx="6035252" cy="647786"/>
          </a:xfrm>
        </p:spPr>
        <p:txBody>
          <a:bodyPr anchor="t">
            <a:normAutofit/>
          </a:bodyPr>
          <a:lstStyle>
            <a:lvl1pPr marL="0" indent="0">
              <a:lnSpc>
                <a:spcPct val="100000"/>
              </a:lnSpc>
              <a:buNone/>
              <a:defRPr sz="3600" b="0" i="0" baseline="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Organization/business</a:t>
            </a:r>
          </a:p>
        </p:txBody>
      </p:sp>
      <p:sp>
        <p:nvSpPr>
          <p:cNvPr id="33" name="Content Placeholder 2">
            <a:extLst>
              <a:ext uri="{FF2B5EF4-FFF2-40B4-BE49-F238E27FC236}">
                <a16:creationId xmlns:a16="http://schemas.microsoft.com/office/drawing/2014/main" id="{9FA89709-76ED-224C-B4CF-D07271807FC5}"/>
              </a:ext>
            </a:extLst>
          </p:cNvPr>
          <p:cNvSpPr>
            <a:spLocks noGrp="1"/>
          </p:cNvSpPr>
          <p:nvPr>
            <p:ph idx="18" hasCustomPrompt="1"/>
          </p:nvPr>
        </p:nvSpPr>
        <p:spPr>
          <a:xfrm>
            <a:off x="6702439" y="2560817"/>
            <a:ext cx="5065019" cy="3085857"/>
          </a:xfrm>
        </p:spPr>
        <p:txBody>
          <a:bodyPr anchor="t">
            <a:normAutofit/>
          </a:bodyPr>
          <a:lstStyle>
            <a:lvl1pPr marL="342900" indent="-342900">
              <a:lnSpc>
                <a:spcPct val="114000"/>
              </a:lnSpc>
              <a:buClr>
                <a:schemeClr val="bg1"/>
              </a:buClr>
              <a:buFont typeface="Arial" panose="020B0604020202020204" pitchFamily="34" charset="0"/>
              <a:buChar char="•"/>
              <a:defRPr sz="2400" b="0" i="0" baseline="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About you</a:t>
            </a:r>
          </a:p>
        </p:txBody>
      </p:sp>
      <p:sp>
        <p:nvSpPr>
          <p:cNvPr id="42" name="Text Placeholder 41">
            <a:extLst>
              <a:ext uri="{FF2B5EF4-FFF2-40B4-BE49-F238E27FC236}">
                <a16:creationId xmlns:a16="http://schemas.microsoft.com/office/drawing/2014/main" id="{0D2292A1-4831-8743-BC26-539A0B82004C}"/>
              </a:ext>
            </a:extLst>
          </p:cNvPr>
          <p:cNvSpPr>
            <a:spLocks noGrp="1"/>
          </p:cNvSpPr>
          <p:nvPr>
            <p:ph type="body" sz="quarter" idx="20" hasCustomPrompt="1"/>
          </p:nvPr>
        </p:nvSpPr>
        <p:spPr>
          <a:xfrm>
            <a:off x="424541" y="1168024"/>
            <a:ext cx="6137624" cy="711882"/>
          </a:xfrm>
        </p:spPr>
        <p:txBody>
          <a:bodyPr anchor="t">
            <a:noAutofit/>
          </a:bodyPr>
          <a:lstStyle>
            <a:lvl1pPr marL="0" indent="0">
              <a:lnSpc>
                <a:spcPct val="90000"/>
              </a:lnSpc>
              <a:buNone/>
              <a:defRPr sz="6000" b="1" i="0" baseline="0">
                <a:solidFill>
                  <a:schemeClr val="tx1"/>
                </a:solidFill>
                <a:latin typeface="IBM Plex Sans" panose="020B0503050203000203" pitchFamily="34" charset="77"/>
              </a:defRPr>
            </a:lvl1pPr>
          </a:lstStyle>
          <a:p>
            <a:pPr lvl="0"/>
            <a:r>
              <a:rPr lang="en-US" dirty="0" err="1"/>
              <a:t>SecondName</a:t>
            </a:r>
            <a:endParaRPr lang="en-US" dirty="0"/>
          </a:p>
        </p:txBody>
      </p:sp>
    </p:spTree>
    <p:extLst>
      <p:ext uri="{BB962C8B-B14F-4D97-AF65-F5344CB8AC3E}">
        <p14:creationId xmlns:p14="http://schemas.microsoft.com/office/powerpoint/2010/main" val="235599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slide">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D47C13-BA7D-D148-A962-B2F9880B3816}"/>
              </a:ext>
            </a:extLst>
          </p:cNvPr>
          <p:cNvSpPr txBox="1"/>
          <p:nvPr userDrawn="1"/>
        </p:nvSpPr>
        <p:spPr>
          <a:xfrm>
            <a:off x="424542" y="537285"/>
            <a:ext cx="6159500" cy="1015663"/>
          </a:xfrm>
          <a:prstGeom prst="rect">
            <a:avLst/>
          </a:prstGeom>
          <a:noFill/>
        </p:spPr>
        <p:txBody>
          <a:bodyPr wrap="square" rtlCol="0">
            <a:spAutoFit/>
          </a:bodyPr>
          <a:lstStyle/>
          <a:p>
            <a:pPr algn="l"/>
            <a:r>
              <a:rPr lang="en-US" sz="6000" b="1" i="0" baseline="0" dirty="0">
                <a:solidFill>
                  <a:schemeClr val="tx1"/>
                </a:solidFill>
                <a:latin typeface="IBM Plex Sans" panose="020B0503050203000203" pitchFamily="34" charset="77"/>
                <a:ea typeface="Roboto" panose="02000000000000000000" pitchFamily="2" charset="0"/>
              </a:rPr>
              <a:t>Thank you</a:t>
            </a:r>
          </a:p>
        </p:txBody>
      </p:sp>
      <p:sp>
        <p:nvSpPr>
          <p:cNvPr id="13" name="Title 1">
            <a:extLst>
              <a:ext uri="{FF2B5EF4-FFF2-40B4-BE49-F238E27FC236}">
                <a16:creationId xmlns:a16="http://schemas.microsoft.com/office/drawing/2014/main" id="{6646216E-29A2-A247-99CE-007D67912A79}"/>
              </a:ext>
            </a:extLst>
          </p:cNvPr>
          <p:cNvSpPr>
            <a:spLocks noGrp="1"/>
          </p:cNvSpPr>
          <p:nvPr>
            <p:ph type="title"/>
          </p:nvPr>
        </p:nvSpPr>
        <p:spPr>
          <a:xfrm>
            <a:off x="424542" y="1492289"/>
            <a:ext cx="9383009" cy="1935532"/>
          </a:xfrm>
        </p:spPr>
        <p:txBody>
          <a:bodyPr anchor="t">
            <a:noAutofit/>
          </a:bodyPr>
          <a:lstStyle>
            <a:lvl1pPr>
              <a:defRPr sz="4400" b="0" i="0" baseline="0">
                <a:solidFill>
                  <a:schemeClr val="tx1"/>
                </a:solidFill>
                <a:latin typeface="IBM Plex Sans" panose="020B0503050203000203" pitchFamily="34" charset="77"/>
              </a:defRPr>
            </a:lvl1pPr>
          </a:lstStyle>
          <a:p>
            <a:r>
              <a:rPr lang="en-GB" dirty="0"/>
              <a:t>Click to edit Master title style</a:t>
            </a:r>
            <a:endParaRPr lang="en-US" dirty="0"/>
          </a:p>
        </p:txBody>
      </p:sp>
      <p:sp>
        <p:nvSpPr>
          <p:cNvPr id="15" name="Content Placeholder 2">
            <a:extLst>
              <a:ext uri="{FF2B5EF4-FFF2-40B4-BE49-F238E27FC236}">
                <a16:creationId xmlns:a16="http://schemas.microsoft.com/office/drawing/2014/main" id="{9DAEEB18-91E1-3F42-8D9D-5E0430A0A876}"/>
              </a:ext>
            </a:extLst>
          </p:cNvPr>
          <p:cNvSpPr>
            <a:spLocks noGrp="1"/>
          </p:cNvSpPr>
          <p:nvPr>
            <p:ph idx="11" hasCustomPrompt="1"/>
          </p:nvPr>
        </p:nvSpPr>
        <p:spPr>
          <a:xfrm>
            <a:off x="424542" y="4141591"/>
            <a:ext cx="6116493" cy="553208"/>
          </a:xfrm>
        </p:spPr>
        <p:txBody>
          <a:bodyPr anchor="ctr">
            <a:normAutofit/>
          </a:bodyPr>
          <a:lstStyle>
            <a:lvl1pPr marL="0" indent="0">
              <a:lnSpc>
                <a:spcPct val="100000"/>
              </a:lnSpc>
              <a:buNone/>
              <a:defRPr sz="2800" b="1" i="0" baseline="0">
                <a:solidFill>
                  <a:schemeClr val="tx1"/>
                </a:solidFill>
                <a:latin typeface="IBM Plex Sans"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Name</a:t>
            </a:r>
          </a:p>
        </p:txBody>
      </p:sp>
      <p:sp>
        <p:nvSpPr>
          <p:cNvPr id="16" name="Content Placeholder 2">
            <a:extLst>
              <a:ext uri="{FF2B5EF4-FFF2-40B4-BE49-F238E27FC236}">
                <a16:creationId xmlns:a16="http://schemas.microsoft.com/office/drawing/2014/main" id="{607DC7BE-7B26-414F-BD9B-3EC87D60A020}"/>
              </a:ext>
            </a:extLst>
          </p:cNvPr>
          <p:cNvSpPr>
            <a:spLocks noGrp="1"/>
          </p:cNvSpPr>
          <p:nvPr>
            <p:ph idx="12" hasCustomPrompt="1"/>
          </p:nvPr>
        </p:nvSpPr>
        <p:spPr>
          <a:xfrm>
            <a:off x="424542" y="4712653"/>
            <a:ext cx="6116493" cy="553208"/>
          </a:xfrm>
        </p:spPr>
        <p:txBody>
          <a:bodyPr anchor="ctr">
            <a:normAutofit/>
          </a:bodyPr>
          <a:lstStyle>
            <a:lvl1pPr marL="0" indent="0">
              <a:lnSpc>
                <a:spcPct val="100000"/>
              </a:lnSpc>
              <a:buNone/>
              <a:defRPr sz="2800" b="0" i="0" baseline="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Contact/social</a:t>
            </a:r>
          </a:p>
        </p:txBody>
      </p:sp>
      <p:sp>
        <p:nvSpPr>
          <p:cNvPr id="17" name="Content Placeholder 2">
            <a:extLst>
              <a:ext uri="{FF2B5EF4-FFF2-40B4-BE49-F238E27FC236}">
                <a16:creationId xmlns:a16="http://schemas.microsoft.com/office/drawing/2014/main" id="{F2E4D425-6254-6148-803B-C779BD3C6F75}"/>
              </a:ext>
            </a:extLst>
          </p:cNvPr>
          <p:cNvSpPr>
            <a:spLocks noGrp="1"/>
          </p:cNvSpPr>
          <p:nvPr>
            <p:ph idx="13" hasCustomPrompt="1"/>
          </p:nvPr>
        </p:nvSpPr>
        <p:spPr>
          <a:xfrm>
            <a:off x="424542" y="5283715"/>
            <a:ext cx="6116493" cy="553208"/>
          </a:xfrm>
        </p:spPr>
        <p:txBody>
          <a:bodyPr anchor="ctr">
            <a:normAutofit/>
          </a:bodyPr>
          <a:lstStyle>
            <a:lvl1pPr marL="0" indent="0">
              <a:lnSpc>
                <a:spcPct val="100000"/>
              </a:lnSpc>
              <a:buNone/>
              <a:defRPr sz="2800" b="0" i="0" baseline="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Contact/social</a:t>
            </a:r>
          </a:p>
        </p:txBody>
      </p:sp>
      <p:sp>
        <p:nvSpPr>
          <p:cNvPr id="18" name="Content Placeholder 2">
            <a:extLst>
              <a:ext uri="{FF2B5EF4-FFF2-40B4-BE49-F238E27FC236}">
                <a16:creationId xmlns:a16="http://schemas.microsoft.com/office/drawing/2014/main" id="{A96E52DF-C0F3-FF4F-92BC-DEBBB26F991B}"/>
              </a:ext>
            </a:extLst>
          </p:cNvPr>
          <p:cNvSpPr>
            <a:spLocks noGrp="1"/>
          </p:cNvSpPr>
          <p:nvPr>
            <p:ph idx="14" hasCustomPrompt="1"/>
          </p:nvPr>
        </p:nvSpPr>
        <p:spPr>
          <a:xfrm>
            <a:off x="424542" y="5854778"/>
            <a:ext cx="6116493" cy="553208"/>
          </a:xfrm>
        </p:spPr>
        <p:txBody>
          <a:bodyPr anchor="ctr">
            <a:normAutofit/>
          </a:bodyPr>
          <a:lstStyle>
            <a:lvl1pPr marL="0" indent="0">
              <a:lnSpc>
                <a:spcPct val="100000"/>
              </a:lnSpc>
              <a:buNone/>
              <a:defRPr sz="2800" b="0" i="0" baseline="0">
                <a:solidFill>
                  <a:schemeClr val="tx1"/>
                </a:solidFill>
                <a:latin typeface="IBM Plex Sans Medium" panose="020B0503050203000203" pitchFamily="34" charset="77"/>
              </a:defRPr>
            </a:lvl1pPr>
            <a:lvl2pPr>
              <a:defRPr>
                <a:solidFill>
                  <a:schemeClr val="tx1"/>
                </a:solidFill>
              </a:defRPr>
            </a:lvl2pPr>
            <a:lvl3pPr>
              <a:defRPr>
                <a:solidFill>
                  <a:schemeClr val="tx1"/>
                </a:solidFill>
              </a:defRPr>
            </a:lvl3pPr>
            <a:lvl4pPr>
              <a:defRPr>
                <a:solidFill>
                  <a:srgbClr val="191919"/>
                </a:solidFill>
              </a:defRPr>
            </a:lvl4pPr>
            <a:lvl5pPr>
              <a:defRPr>
                <a:solidFill>
                  <a:srgbClr val="191919"/>
                </a:solidFill>
              </a:defRPr>
            </a:lvl5pPr>
          </a:lstStyle>
          <a:p>
            <a:pPr lvl="0"/>
            <a:r>
              <a:rPr lang="en-GB" dirty="0"/>
              <a:t>Contact/social</a:t>
            </a:r>
          </a:p>
        </p:txBody>
      </p:sp>
    </p:spTree>
    <p:extLst>
      <p:ext uri="{BB962C8B-B14F-4D97-AF65-F5344CB8AC3E}">
        <p14:creationId xmlns:p14="http://schemas.microsoft.com/office/powerpoint/2010/main" val="2498859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a:xfrm>
            <a:off x="609601" y="1772816"/>
            <a:ext cx="10972800" cy="4353348"/>
          </a:xfrm>
        </p:spPr>
        <p:txBody>
          <a:bodyPr/>
          <a:lstStyle>
            <a:lvl1pPr>
              <a:buClr>
                <a:srgbClr val="C00000"/>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789434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 No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a:xfrm>
            <a:off x="609601" y="1772816"/>
            <a:ext cx="10972800" cy="4353348"/>
          </a:xfrm>
        </p:spPr>
        <p:txBody>
          <a:bodyPr/>
          <a:lstStyle>
            <a:lvl1pPr>
              <a:buClr>
                <a:srgbClr val="C00000"/>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23019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Opening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3004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Speaker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19403" y="2660915"/>
            <a:ext cx="10753195" cy="960107"/>
          </a:xfrm>
        </p:spPr>
        <p:txBody>
          <a:bodyPr>
            <a:normAutofit/>
          </a:bodyPr>
          <a:lstStyle>
            <a:lvl1pPr algn="ctr">
              <a:defRPr sz="3733">
                <a:solidFill>
                  <a:srgbClr val="ED2A24"/>
                </a:solidFill>
                <a:latin typeface="Roboto" panose="02000000000000000000" pitchFamily="2" charset="0"/>
              </a:defRPr>
            </a:lvl1pPr>
          </a:lstStyle>
          <a:p>
            <a:r>
              <a:rPr lang="nb-NO" dirty="0"/>
              <a:t>Klikk for å redigere tittelstil</a:t>
            </a:r>
            <a:endParaRPr lang="en-US" dirty="0"/>
          </a:p>
        </p:txBody>
      </p:sp>
      <p:sp>
        <p:nvSpPr>
          <p:cNvPr id="5" name="Plassholder for tekst 3">
            <a:extLst>
              <a:ext uri="{FF2B5EF4-FFF2-40B4-BE49-F238E27FC236}">
                <a16:creationId xmlns:a16="http://schemas.microsoft.com/office/drawing/2014/main" id="{1CD8EA4B-13CD-40B4-BDDD-B2F23644D47A}"/>
              </a:ext>
            </a:extLst>
          </p:cNvPr>
          <p:cNvSpPr>
            <a:spLocks noGrp="1"/>
          </p:cNvSpPr>
          <p:nvPr>
            <p:ph type="body" sz="quarter" idx="10" hasCustomPrompt="1"/>
          </p:nvPr>
        </p:nvSpPr>
        <p:spPr>
          <a:xfrm>
            <a:off x="719403" y="3909055"/>
            <a:ext cx="10753195" cy="576064"/>
          </a:xfrm>
        </p:spPr>
        <p:txBody>
          <a:bodyPr/>
          <a:lstStyle>
            <a:lvl1pPr marL="0" indent="0" algn="ctr">
              <a:buClr>
                <a:srgbClr val="FDBA12"/>
              </a:buClr>
              <a:buFontTx/>
              <a:buNone/>
              <a:defRPr baseline="0">
                <a:solidFill>
                  <a:srgbClr val="0A1523"/>
                </a:solidFill>
                <a:latin typeface="Roboto" panose="02000000000000000000" pitchFamily="2" charset="0"/>
                <a:cs typeface="Roboto" panose="02000000000000000000" pitchFamily="2" charset="0"/>
              </a:defRPr>
            </a:lvl1pPr>
            <a:lvl2pPr marL="609585" indent="0">
              <a:buClr>
                <a:srgbClr val="FDBA12"/>
              </a:buClr>
              <a:buFontTx/>
              <a:buNone/>
              <a:defRPr baseline="0">
                <a:solidFill>
                  <a:schemeClr val="bg1"/>
                </a:solidFill>
                <a:latin typeface="IBM Plex Sans" panose="020B0503050203000203" pitchFamily="34" charset="0"/>
                <a:cs typeface="Museo Sans 100"/>
              </a:defRPr>
            </a:lvl2pPr>
            <a:lvl3pPr marL="1219170" indent="0">
              <a:buClr>
                <a:srgbClr val="FDBA12"/>
              </a:buClr>
              <a:buFontTx/>
              <a:buNone/>
              <a:defRPr baseline="0">
                <a:solidFill>
                  <a:schemeClr val="bg1"/>
                </a:solidFill>
                <a:latin typeface="IBM Plex Sans" panose="020B0503050203000203" pitchFamily="34" charset="0"/>
                <a:cs typeface="Museo Sans 100"/>
              </a:defRPr>
            </a:lvl3pPr>
            <a:lvl4pPr marL="1828754" indent="0">
              <a:buClr>
                <a:srgbClr val="FDBA12"/>
              </a:buClr>
              <a:buFontTx/>
              <a:buNone/>
              <a:defRPr baseline="0">
                <a:solidFill>
                  <a:schemeClr val="bg1"/>
                </a:solidFill>
                <a:latin typeface="IBM Plex Sans" panose="020B0503050203000203" pitchFamily="34" charset="0"/>
                <a:cs typeface="Museo Sans 100"/>
              </a:defRPr>
            </a:lvl4pPr>
            <a:lvl5pPr marL="2438339" indent="0">
              <a:buClr>
                <a:srgbClr val="FDBA12"/>
              </a:buClr>
              <a:buFontTx/>
              <a:buNone/>
              <a:defRPr baseline="0">
                <a:solidFill>
                  <a:schemeClr val="bg1"/>
                </a:solidFill>
                <a:latin typeface="IBM Plex Sans" panose="020B0503050203000203" pitchFamily="34" charset="0"/>
                <a:cs typeface="Museo Sans 100"/>
              </a:defRPr>
            </a:lvl5pPr>
          </a:lstStyle>
          <a:p>
            <a:pPr lvl="0"/>
            <a:r>
              <a:rPr lang="nb-NO" dirty="0"/>
              <a:t>Klikk for å redigere tekststiler i malen</a:t>
            </a:r>
          </a:p>
        </p:txBody>
      </p:sp>
    </p:spTree>
    <p:extLst>
      <p:ext uri="{BB962C8B-B14F-4D97-AF65-F5344CB8AC3E}">
        <p14:creationId xmlns:p14="http://schemas.microsoft.com/office/powerpoint/2010/main" val="372606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1010939" cy="1143000"/>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609601" y="1600202"/>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Rectangle 6">
            <a:extLst>
              <a:ext uri="{FF2B5EF4-FFF2-40B4-BE49-F238E27FC236}">
                <a16:creationId xmlns:a16="http://schemas.microsoft.com/office/drawing/2014/main" id="{B0734B06-BDFA-64DB-8FFF-849C281076A2}"/>
              </a:ext>
            </a:extLst>
          </p:cNvPr>
          <p:cNvSpPr/>
          <p:nvPr userDrawn="1"/>
        </p:nvSpPr>
        <p:spPr>
          <a:xfrm>
            <a:off x="0" y="6791325"/>
            <a:ext cx="12192000" cy="66675"/>
          </a:xfrm>
          <a:prstGeom prst="rect">
            <a:avLst/>
          </a:prstGeom>
          <a:solidFill>
            <a:srgbClr val="2F6ED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err="1">
              <a:ln>
                <a:noFill/>
              </a:ln>
              <a:solidFill>
                <a:srgbClr val="FFFFFF"/>
              </a:solidFill>
              <a:effectLst/>
              <a:uLnTx/>
              <a:uFillTx/>
              <a:latin typeface="Roboto" panose="02000000000000000000" pitchFamily="2" charset="0"/>
              <a:ea typeface="Roboto" panose="02000000000000000000" pitchFamily="2" charset="0"/>
              <a:cs typeface="+mn-cs"/>
            </a:endParaRPr>
          </a:p>
        </p:txBody>
      </p:sp>
    </p:spTree>
    <p:extLst>
      <p:ext uri="{BB962C8B-B14F-4D97-AF65-F5344CB8AC3E}">
        <p14:creationId xmlns:p14="http://schemas.microsoft.com/office/powerpoint/2010/main" val="4116632175"/>
      </p:ext>
    </p:extLst>
  </p:cSld>
  <p:clrMap bg1="lt1" tx1="dk1" bg2="lt2" tx2="dk2" accent1="accent1" accent2="accent2" accent3="accent3" accent4="accent4" accent5="accent5" accent6="accent6" hlink="hlink" folHlink="folHlink"/>
  <p:sldLayoutIdLst>
    <p:sldLayoutId id="2147483740" r:id="rId1"/>
    <p:sldLayoutId id="2147483751" r:id="rId2"/>
    <p:sldLayoutId id="2147483759" r:id="rId3"/>
    <p:sldLayoutId id="2147483763" r:id="rId4"/>
    <p:sldLayoutId id="2147483764" r:id="rId5"/>
    <p:sldLayoutId id="2147483859" r:id="rId6"/>
    <p:sldLayoutId id="2147483860" r:id="rId7"/>
  </p:sldLayoutIdLst>
  <p:txStyles>
    <p:titleStyle>
      <a:lvl1pPr algn="l" defTabSz="914400" rtl="0" eaLnBrk="1" latinLnBrk="0" hangingPunct="1">
        <a:spcBef>
          <a:spcPct val="0"/>
        </a:spcBef>
        <a:buNone/>
        <a:defRPr sz="3800" kern="1200">
          <a:solidFill>
            <a:srgbClr val="C00000"/>
          </a:solidFill>
          <a:latin typeface="Segoe UI" pitchFamily="34" charset="0"/>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2600" kern="1200">
          <a:solidFill>
            <a:schemeClr val="tx1">
              <a:lumMod val="85000"/>
              <a:lumOff val="15000"/>
            </a:schemeClr>
          </a:solidFill>
          <a:latin typeface="Segoe UI"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400" kern="1200">
          <a:solidFill>
            <a:schemeClr val="tx1">
              <a:lumMod val="85000"/>
              <a:lumOff val="15000"/>
            </a:schemeClr>
          </a:solidFill>
          <a:latin typeface="Segoe UI"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200" kern="1200">
          <a:solidFill>
            <a:schemeClr val="tx1">
              <a:lumMod val="85000"/>
              <a:lumOff val="15000"/>
            </a:schemeClr>
          </a:solidFill>
          <a:latin typeface="Segoe UI"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100" kern="1200">
          <a:solidFill>
            <a:schemeClr val="tx1">
              <a:lumMod val="85000"/>
              <a:lumOff val="15000"/>
            </a:schemeClr>
          </a:solidFill>
          <a:latin typeface="Segoe UI"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lumMod val="85000"/>
              <a:lumOff val="15000"/>
            </a:schemeClr>
          </a:solidFill>
          <a:latin typeface="Segoe UI"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ola.hallengren.com/" TargetMode="External"/><Relationship Id="rId2" Type="http://schemas.openxmlformats.org/officeDocument/2006/relationships/hyperlink" Target="https://learn.microsoft.com/en-us/sql/relational-databases/system-functions/sys-fn-hadr-backup-is-preferred-replica-transact-sql?view=sql-server-ver17"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learn.microsoft.com/en-us/sql/relational-databases/system-dynamic-management-views/sys-dm-tran-persistent-version-store-stats?view=sql-server-ver16" TargetMode="Externa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069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C5DAF-8F57-46B2-9F41-B03F489CBDDB}"/>
              </a:ext>
            </a:extLst>
          </p:cNvPr>
          <p:cNvSpPr>
            <a:spLocks noGrp="1"/>
          </p:cNvSpPr>
          <p:nvPr>
            <p:ph type="ctrTitle"/>
          </p:nvPr>
        </p:nvSpPr>
        <p:spPr>
          <a:xfrm>
            <a:off x="719403" y="4140577"/>
            <a:ext cx="10753195" cy="960107"/>
          </a:xfrm>
        </p:spPr>
        <p:txBody>
          <a:bodyPr/>
          <a:lstStyle/>
          <a:p>
            <a:r>
              <a:rPr lang="en-US" dirty="0"/>
              <a:t>Ola Hallengren</a:t>
            </a:r>
          </a:p>
        </p:txBody>
      </p:sp>
      <p:sp>
        <p:nvSpPr>
          <p:cNvPr id="3" name="Text Placeholder 2">
            <a:extLst>
              <a:ext uri="{FF2B5EF4-FFF2-40B4-BE49-F238E27FC236}">
                <a16:creationId xmlns:a16="http://schemas.microsoft.com/office/drawing/2014/main" id="{D944984C-634C-4ED0-B981-94C45DEC1281}"/>
              </a:ext>
            </a:extLst>
          </p:cNvPr>
          <p:cNvSpPr>
            <a:spLocks noGrp="1"/>
          </p:cNvSpPr>
          <p:nvPr>
            <p:ph type="body" sz="quarter" idx="10"/>
          </p:nvPr>
        </p:nvSpPr>
        <p:spPr>
          <a:xfrm>
            <a:off x="719403" y="2678770"/>
            <a:ext cx="10753195" cy="1161707"/>
          </a:xfrm>
        </p:spPr>
        <p:txBody>
          <a:bodyPr>
            <a:noAutofit/>
          </a:bodyPr>
          <a:lstStyle/>
          <a:p>
            <a:r>
              <a:rPr lang="en-US" sz="3600" dirty="0"/>
              <a:t>Running Trading Systems on SQL Server:</a:t>
            </a:r>
            <a:br>
              <a:rPr lang="en-US" sz="3600" dirty="0"/>
            </a:br>
            <a:r>
              <a:rPr lang="en-US" sz="3600" dirty="0"/>
              <a:t>Leveraging the Latest Performance Improvements</a:t>
            </a:r>
          </a:p>
        </p:txBody>
      </p:sp>
    </p:spTree>
    <p:extLst>
      <p:ext uri="{BB962C8B-B14F-4D97-AF65-F5344CB8AC3E}">
        <p14:creationId xmlns:p14="http://schemas.microsoft.com/office/powerpoint/2010/main" val="3420552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CC9B-D507-6445-8B25-52BE472023F6}"/>
              </a:ext>
            </a:extLst>
          </p:cNvPr>
          <p:cNvSpPr>
            <a:spLocks noGrp="1"/>
          </p:cNvSpPr>
          <p:nvPr>
            <p:ph type="title"/>
          </p:nvPr>
        </p:nvSpPr>
        <p:spPr/>
        <p:txBody>
          <a:bodyPr/>
          <a:lstStyle/>
          <a:p>
            <a:r>
              <a:rPr lang="en-US" dirty="0">
                <a:solidFill>
                  <a:schemeClr val="tx2"/>
                </a:solidFill>
              </a:rPr>
              <a:t>Ola</a:t>
            </a:r>
          </a:p>
        </p:txBody>
      </p:sp>
      <p:sp>
        <p:nvSpPr>
          <p:cNvPr id="3" name="Content Placeholder 2">
            <a:extLst>
              <a:ext uri="{FF2B5EF4-FFF2-40B4-BE49-F238E27FC236}">
                <a16:creationId xmlns:a16="http://schemas.microsoft.com/office/drawing/2014/main" id="{7F99F984-5EE3-D946-985F-107BD24A32D9}"/>
              </a:ext>
            </a:extLst>
          </p:cNvPr>
          <p:cNvSpPr>
            <a:spLocks noGrp="1"/>
          </p:cNvSpPr>
          <p:nvPr>
            <p:ph idx="1"/>
          </p:nvPr>
        </p:nvSpPr>
        <p:spPr>
          <a:xfrm>
            <a:off x="424542" y="2560817"/>
            <a:ext cx="6714388" cy="647786"/>
          </a:xfrm>
        </p:spPr>
        <p:txBody>
          <a:bodyPr/>
          <a:lstStyle/>
          <a:p>
            <a:r>
              <a:rPr lang="en-US" dirty="0">
                <a:solidFill>
                  <a:schemeClr val="tx2"/>
                </a:solidFill>
              </a:rPr>
              <a:t>Chief Data Platforms Engineer</a:t>
            </a:r>
          </a:p>
        </p:txBody>
      </p:sp>
      <p:sp>
        <p:nvSpPr>
          <p:cNvPr id="6" name="Content Placeholder 5">
            <a:extLst>
              <a:ext uri="{FF2B5EF4-FFF2-40B4-BE49-F238E27FC236}">
                <a16:creationId xmlns:a16="http://schemas.microsoft.com/office/drawing/2014/main" id="{33635C4D-5EAB-354D-9225-BC04B576C009}"/>
              </a:ext>
            </a:extLst>
          </p:cNvPr>
          <p:cNvSpPr>
            <a:spLocks noGrp="1"/>
          </p:cNvSpPr>
          <p:nvPr>
            <p:ph idx="13"/>
          </p:nvPr>
        </p:nvSpPr>
        <p:spPr/>
        <p:txBody>
          <a:bodyPr/>
          <a:lstStyle/>
          <a:p>
            <a:r>
              <a:rPr lang="en-US" dirty="0">
                <a:solidFill>
                  <a:schemeClr val="tx2"/>
                </a:solidFill>
              </a:rPr>
              <a:t>ola@hallengren.com</a:t>
            </a:r>
          </a:p>
        </p:txBody>
      </p:sp>
      <p:sp>
        <p:nvSpPr>
          <p:cNvPr id="7" name="Content Placeholder 6">
            <a:extLst>
              <a:ext uri="{FF2B5EF4-FFF2-40B4-BE49-F238E27FC236}">
                <a16:creationId xmlns:a16="http://schemas.microsoft.com/office/drawing/2014/main" id="{81F9E485-670C-8F44-8C45-B464164BEA42}"/>
              </a:ext>
            </a:extLst>
          </p:cNvPr>
          <p:cNvSpPr>
            <a:spLocks noGrp="1"/>
          </p:cNvSpPr>
          <p:nvPr>
            <p:ph idx="14"/>
          </p:nvPr>
        </p:nvSpPr>
        <p:spPr/>
        <p:txBody>
          <a:bodyPr/>
          <a:lstStyle/>
          <a:p>
            <a:r>
              <a:rPr lang="en-US" dirty="0">
                <a:solidFill>
                  <a:schemeClr val="tx2"/>
                </a:solidFill>
              </a:rPr>
              <a:t>https://ola.hallengren.com</a:t>
            </a:r>
          </a:p>
        </p:txBody>
      </p:sp>
      <p:sp>
        <p:nvSpPr>
          <p:cNvPr id="8" name="Content Placeholder 7">
            <a:extLst>
              <a:ext uri="{FF2B5EF4-FFF2-40B4-BE49-F238E27FC236}">
                <a16:creationId xmlns:a16="http://schemas.microsoft.com/office/drawing/2014/main" id="{4177444F-EC04-6443-BB89-E14460A223D8}"/>
              </a:ext>
            </a:extLst>
          </p:cNvPr>
          <p:cNvSpPr>
            <a:spLocks noGrp="1"/>
          </p:cNvSpPr>
          <p:nvPr>
            <p:ph idx="17"/>
          </p:nvPr>
        </p:nvSpPr>
        <p:spPr/>
        <p:txBody>
          <a:bodyPr/>
          <a:lstStyle/>
          <a:p>
            <a:r>
              <a:rPr lang="en-US" dirty="0">
                <a:solidFill>
                  <a:schemeClr val="tx2"/>
                </a:solidFill>
              </a:rPr>
              <a:t>Saxo Bank</a:t>
            </a:r>
          </a:p>
        </p:txBody>
      </p:sp>
      <p:sp>
        <p:nvSpPr>
          <p:cNvPr id="18" name="Content Placeholder 17">
            <a:extLst>
              <a:ext uri="{FF2B5EF4-FFF2-40B4-BE49-F238E27FC236}">
                <a16:creationId xmlns:a16="http://schemas.microsoft.com/office/drawing/2014/main" id="{2AB2DBF1-DB5F-D242-B438-4B5B729AADB4}"/>
              </a:ext>
            </a:extLst>
          </p:cNvPr>
          <p:cNvSpPr>
            <a:spLocks noGrp="1"/>
          </p:cNvSpPr>
          <p:nvPr>
            <p:ph idx="18"/>
          </p:nvPr>
        </p:nvSpPr>
        <p:spPr>
          <a:xfrm>
            <a:off x="7260116" y="2560817"/>
            <a:ext cx="4748270" cy="3085857"/>
          </a:xfrm>
        </p:spPr>
        <p:txBody>
          <a:bodyPr>
            <a:normAutofit/>
          </a:bodyPr>
          <a:lstStyle/>
          <a:p>
            <a:pPr marL="0" indent="0">
              <a:buNone/>
            </a:pPr>
            <a:r>
              <a:rPr lang="en-US" dirty="0">
                <a:solidFill>
                  <a:schemeClr val="tx2"/>
                </a:solidFill>
              </a:rPr>
              <a:t>I am working with the databases for the trading systems in Saxo Bank, an investment bank in Copenhagen, Denmark.</a:t>
            </a:r>
          </a:p>
          <a:p>
            <a:pPr marL="0" indent="0">
              <a:buNone/>
            </a:pPr>
            <a:r>
              <a:rPr lang="en-US" dirty="0">
                <a:solidFill>
                  <a:schemeClr val="tx2"/>
                </a:solidFill>
              </a:rPr>
              <a:t>I am a Microsoft Data Platform MVP since 2014.</a:t>
            </a:r>
          </a:p>
          <a:p>
            <a:endParaRPr lang="en-US" dirty="0"/>
          </a:p>
        </p:txBody>
      </p:sp>
      <p:sp>
        <p:nvSpPr>
          <p:cNvPr id="11" name="Text Placeholder 10">
            <a:extLst>
              <a:ext uri="{FF2B5EF4-FFF2-40B4-BE49-F238E27FC236}">
                <a16:creationId xmlns:a16="http://schemas.microsoft.com/office/drawing/2014/main" id="{72C2EFE8-9608-7346-9A4F-49484BC20A93}"/>
              </a:ext>
            </a:extLst>
          </p:cNvPr>
          <p:cNvSpPr>
            <a:spLocks noGrp="1"/>
          </p:cNvSpPr>
          <p:nvPr>
            <p:ph type="body" sz="quarter" idx="20"/>
          </p:nvPr>
        </p:nvSpPr>
        <p:spPr/>
        <p:txBody>
          <a:bodyPr/>
          <a:lstStyle/>
          <a:p>
            <a:r>
              <a:rPr lang="en-US" dirty="0">
                <a:solidFill>
                  <a:schemeClr val="tx2"/>
                </a:solidFill>
              </a:rPr>
              <a:t>Hallengren</a:t>
            </a:r>
          </a:p>
        </p:txBody>
      </p:sp>
      <p:pic>
        <p:nvPicPr>
          <p:cNvPr id="14" name="Graphic 13">
            <a:extLst>
              <a:ext uri="{FF2B5EF4-FFF2-40B4-BE49-F238E27FC236}">
                <a16:creationId xmlns:a16="http://schemas.microsoft.com/office/drawing/2014/main" id="{8619409C-887A-B848-A295-B00F174B38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2585" y="5911458"/>
            <a:ext cx="368937" cy="368937"/>
          </a:xfrm>
          <a:prstGeom prst="rect">
            <a:avLst/>
          </a:prstGeom>
        </p:spPr>
      </p:pic>
      <p:pic>
        <p:nvPicPr>
          <p:cNvPr id="16" name="Graphic 15">
            <a:extLst>
              <a:ext uri="{FF2B5EF4-FFF2-40B4-BE49-F238E27FC236}">
                <a16:creationId xmlns:a16="http://schemas.microsoft.com/office/drawing/2014/main" id="{5F7B0E04-5A03-AD4C-91C3-E83005AE9D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8577" y="5390520"/>
            <a:ext cx="356952" cy="356952"/>
          </a:xfrm>
          <a:prstGeom prst="rect">
            <a:avLst/>
          </a:prstGeom>
        </p:spPr>
      </p:pic>
      <p:pic>
        <p:nvPicPr>
          <p:cNvPr id="20" name="Picture Placeholder 19">
            <a:extLst>
              <a:ext uri="{FF2B5EF4-FFF2-40B4-BE49-F238E27FC236}">
                <a16:creationId xmlns:a16="http://schemas.microsoft.com/office/drawing/2014/main" id="{C8132F30-C8B1-5AFA-2D5B-DF951A7CB96F}"/>
              </a:ext>
            </a:extLst>
          </p:cNvPr>
          <p:cNvPicPr>
            <a:picLocks noGrp="1" noChangeAspect="1"/>
          </p:cNvPicPr>
          <p:nvPr>
            <p:ph type="pic" sz="quarter" idx="15"/>
          </p:nvPr>
        </p:nvPicPr>
        <p:blipFill>
          <a:blip r:embed="rId6">
            <a:extLst>
              <a:ext uri="{28A0092B-C50C-407E-A947-70E740481C1C}">
                <a14:useLocalDpi xmlns:a14="http://schemas.microsoft.com/office/drawing/2010/main" val="0"/>
              </a:ext>
            </a:extLst>
          </a:blip>
          <a:srcRect t="3256" b="3256"/>
          <a:stretch>
            <a:fillRect/>
          </a:stretch>
        </p:blipFill>
        <p:spPr/>
      </p:pic>
    </p:spTree>
    <p:extLst>
      <p:ext uri="{BB962C8B-B14F-4D97-AF65-F5344CB8AC3E}">
        <p14:creationId xmlns:p14="http://schemas.microsoft.com/office/powerpoint/2010/main" val="886874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7E64A-6017-D44B-F01C-60A43B5CE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6BDA3-B2FB-C61A-72E6-098239868A50}"/>
              </a:ext>
            </a:extLst>
          </p:cNvPr>
          <p:cNvSpPr>
            <a:spLocks noGrp="1"/>
          </p:cNvSpPr>
          <p:nvPr>
            <p:ph type="title"/>
          </p:nvPr>
        </p:nvSpPr>
        <p:spPr>
          <a:xfrm>
            <a:off x="78528" y="66819"/>
            <a:ext cx="12171663" cy="1143000"/>
          </a:xfrm>
        </p:spPr>
        <p:txBody>
          <a:bodyPr>
            <a:normAutofit/>
          </a:bodyPr>
          <a:lstStyle/>
          <a:p>
            <a:r>
              <a:rPr lang="en-US" sz="3600" dirty="0"/>
              <a:t>Requirements for Running Trading Systems on SQL Server</a:t>
            </a:r>
          </a:p>
        </p:txBody>
      </p:sp>
      <p:sp>
        <p:nvSpPr>
          <p:cNvPr id="3" name="Flowchart: Alternate Process 2">
            <a:extLst>
              <a:ext uri="{FF2B5EF4-FFF2-40B4-BE49-F238E27FC236}">
                <a16:creationId xmlns:a16="http://schemas.microsoft.com/office/drawing/2014/main" id="{C2ABF24D-5E93-92EB-0646-34BEE4C7E697}"/>
              </a:ext>
            </a:extLst>
          </p:cNvPr>
          <p:cNvSpPr/>
          <p:nvPr/>
        </p:nvSpPr>
        <p:spPr>
          <a:xfrm>
            <a:off x="358246" y="2361518"/>
            <a:ext cx="2556404" cy="91440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Ultra-low latency</a:t>
            </a:r>
            <a:endParaRPr lang="en-SE" sz="2400" b="0" dirty="0"/>
          </a:p>
        </p:txBody>
      </p:sp>
      <p:sp>
        <p:nvSpPr>
          <p:cNvPr id="5" name="Flowchart: Alternate Process 4">
            <a:extLst>
              <a:ext uri="{FF2B5EF4-FFF2-40B4-BE49-F238E27FC236}">
                <a16:creationId xmlns:a16="http://schemas.microsoft.com/office/drawing/2014/main" id="{E3F8F9A1-99E8-2AEA-2551-412FDBB0C7CF}"/>
              </a:ext>
            </a:extLst>
          </p:cNvPr>
          <p:cNvSpPr/>
          <p:nvPr/>
        </p:nvSpPr>
        <p:spPr>
          <a:xfrm>
            <a:off x="358247" y="3427492"/>
            <a:ext cx="9871604" cy="914400"/>
          </a:xfrm>
          <a:prstGeom prst="flowChartAlternate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Handle large spikes  with predictable performance (e.g., Trump’s tariff days)</a:t>
            </a:r>
            <a:endParaRPr lang="en-SE" sz="2400" b="0" dirty="0"/>
          </a:p>
        </p:txBody>
      </p:sp>
      <p:sp>
        <p:nvSpPr>
          <p:cNvPr id="6" name="Rectangle: Rounded Corners 5">
            <a:extLst>
              <a:ext uri="{FF2B5EF4-FFF2-40B4-BE49-F238E27FC236}">
                <a16:creationId xmlns:a16="http://schemas.microsoft.com/office/drawing/2014/main" id="{2AA62023-1418-7FEA-D729-3E3BFB57CBA5}"/>
              </a:ext>
            </a:extLst>
          </p:cNvPr>
          <p:cNvSpPr/>
          <p:nvPr/>
        </p:nvSpPr>
        <p:spPr>
          <a:xfrm>
            <a:off x="358246" y="1295544"/>
            <a:ext cx="2556404" cy="914400"/>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Extreme stability</a:t>
            </a:r>
            <a:endParaRPr lang="en-SE" sz="2400" b="0" dirty="0"/>
          </a:p>
        </p:txBody>
      </p:sp>
      <p:sp>
        <p:nvSpPr>
          <p:cNvPr id="7" name="Flowchart: Alternate Process 6">
            <a:extLst>
              <a:ext uri="{FF2B5EF4-FFF2-40B4-BE49-F238E27FC236}">
                <a16:creationId xmlns:a16="http://schemas.microsoft.com/office/drawing/2014/main" id="{EC641131-782F-EA96-21FB-53943B092D8B}"/>
              </a:ext>
            </a:extLst>
          </p:cNvPr>
          <p:cNvSpPr/>
          <p:nvPr/>
        </p:nvSpPr>
        <p:spPr>
          <a:xfrm>
            <a:off x="358245" y="4502355"/>
            <a:ext cx="11157101" cy="914400"/>
          </a:xfrm>
          <a:prstGeom prst="flowChartAlternate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Synchronous transaction persistence and automatic failover between two data centers</a:t>
            </a:r>
            <a:endParaRPr lang="en-SE" sz="2400" b="0" dirty="0"/>
          </a:p>
        </p:txBody>
      </p:sp>
      <p:sp>
        <p:nvSpPr>
          <p:cNvPr id="8" name="Flowchart: Alternate Process 7">
            <a:extLst>
              <a:ext uri="{FF2B5EF4-FFF2-40B4-BE49-F238E27FC236}">
                <a16:creationId xmlns:a16="http://schemas.microsoft.com/office/drawing/2014/main" id="{73A49B5E-18F0-2032-2185-7534E0254920}"/>
              </a:ext>
            </a:extLst>
          </p:cNvPr>
          <p:cNvSpPr/>
          <p:nvPr/>
        </p:nvSpPr>
        <p:spPr>
          <a:xfrm>
            <a:off x="358245" y="5559440"/>
            <a:ext cx="4232426" cy="914400"/>
          </a:xfrm>
          <a:prstGeom prst="flowChartAlternateProcess">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0" dirty="0"/>
              <a:t>Strict security and compliance</a:t>
            </a:r>
            <a:endParaRPr lang="en-SE" sz="2400" b="0" dirty="0"/>
          </a:p>
        </p:txBody>
      </p:sp>
    </p:spTree>
    <p:extLst>
      <p:ext uri="{BB962C8B-B14F-4D97-AF65-F5344CB8AC3E}">
        <p14:creationId xmlns:p14="http://schemas.microsoft.com/office/powerpoint/2010/main" val="3959378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E49508-95F9-2F4A-A728-68FCD2EF7B4D}"/>
              </a:ext>
            </a:extLst>
          </p:cNvPr>
          <p:cNvSpPr>
            <a:spLocks noGrp="1"/>
          </p:cNvSpPr>
          <p:nvPr>
            <p:ph type="title"/>
          </p:nvPr>
        </p:nvSpPr>
        <p:spPr>
          <a:xfrm>
            <a:off x="109463" y="-22277"/>
            <a:ext cx="12033197" cy="1143000"/>
          </a:xfrm>
        </p:spPr>
        <p:txBody>
          <a:bodyPr>
            <a:normAutofit/>
          </a:bodyPr>
          <a:lstStyle/>
          <a:p>
            <a:r>
              <a:rPr lang="en-US" dirty="0">
                <a:solidFill>
                  <a:schemeClr val="tx2"/>
                </a:solidFill>
              </a:rPr>
              <a:t>Database Engine Performance Improvements</a:t>
            </a:r>
          </a:p>
        </p:txBody>
      </p:sp>
      <p:graphicFrame>
        <p:nvGraphicFramePr>
          <p:cNvPr id="2" name="Table 1">
            <a:extLst>
              <a:ext uri="{FF2B5EF4-FFF2-40B4-BE49-F238E27FC236}">
                <a16:creationId xmlns:a16="http://schemas.microsoft.com/office/drawing/2014/main" id="{676A6A73-0D4A-8B11-5926-C32DC57B7D01}"/>
              </a:ext>
            </a:extLst>
          </p:cNvPr>
          <p:cNvGraphicFramePr>
            <a:graphicFrameLocks noGrp="1"/>
          </p:cNvGraphicFramePr>
          <p:nvPr>
            <p:extLst>
              <p:ext uri="{D42A27DB-BD31-4B8C-83A1-F6EECF244321}">
                <p14:modId xmlns:p14="http://schemas.microsoft.com/office/powerpoint/2010/main" val="383762942"/>
              </p:ext>
            </p:extLst>
          </p:nvPr>
        </p:nvGraphicFramePr>
        <p:xfrm>
          <a:off x="84523" y="1180573"/>
          <a:ext cx="12033195" cy="4572000"/>
        </p:xfrm>
        <a:graphic>
          <a:graphicData uri="http://schemas.openxmlformats.org/drawingml/2006/table">
            <a:tbl>
              <a:tblPr firstRow="1" bandRow="1">
                <a:tableStyleId>{72833802-FEF1-4C79-8D5D-14CF1EAF98D9}</a:tableStyleId>
              </a:tblPr>
              <a:tblGrid>
                <a:gridCol w="4213157">
                  <a:extLst>
                    <a:ext uri="{9D8B030D-6E8A-4147-A177-3AD203B41FA5}">
                      <a16:colId xmlns:a16="http://schemas.microsoft.com/office/drawing/2014/main" val="2957349378"/>
                    </a:ext>
                  </a:extLst>
                </a:gridCol>
                <a:gridCol w="996696">
                  <a:extLst>
                    <a:ext uri="{9D8B030D-6E8A-4147-A177-3AD203B41FA5}">
                      <a16:colId xmlns:a16="http://schemas.microsoft.com/office/drawing/2014/main" val="4082491960"/>
                    </a:ext>
                  </a:extLst>
                </a:gridCol>
                <a:gridCol w="1508760">
                  <a:extLst>
                    <a:ext uri="{9D8B030D-6E8A-4147-A177-3AD203B41FA5}">
                      <a16:colId xmlns:a16="http://schemas.microsoft.com/office/drawing/2014/main" val="2519780249"/>
                    </a:ext>
                  </a:extLst>
                </a:gridCol>
                <a:gridCol w="1133856">
                  <a:extLst>
                    <a:ext uri="{9D8B030D-6E8A-4147-A177-3AD203B41FA5}">
                      <a16:colId xmlns:a16="http://schemas.microsoft.com/office/drawing/2014/main" val="2475275127"/>
                    </a:ext>
                  </a:extLst>
                </a:gridCol>
                <a:gridCol w="1188720">
                  <a:extLst>
                    <a:ext uri="{9D8B030D-6E8A-4147-A177-3AD203B41FA5}">
                      <a16:colId xmlns:a16="http://schemas.microsoft.com/office/drawing/2014/main" val="408314800"/>
                    </a:ext>
                  </a:extLst>
                </a:gridCol>
                <a:gridCol w="1097280">
                  <a:extLst>
                    <a:ext uri="{9D8B030D-6E8A-4147-A177-3AD203B41FA5}">
                      <a16:colId xmlns:a16="http://schemas.microsoft.com/office/drawing/2014/main" val="3117324270"/>
                    </a:ext>
                  </a:extLst>
                </a:gridCol>
                <a:gridCol w="1894726">
                  <a:extLst>
                    <a:ext uri="{9D8B030D-6E8A-4147-A177-3AD203B41FA5}">
                      <a16:colId xmlns:a16="http://schemas.microsoft.com/office/drawing/2014/main" val="500740504"/>
                    </a:ext>
                  </a:extLst>
                </a:gridCol>
              </a:tblGrid>
              <a:tr h="0">
                <a:tc>
                  <a:txBody>
                    <a:bodyPr/>
                    <a:lstStyle/>
                    <a:p>
                      <a:r>
                        <a:rPr lang="en-US" sz="2400" dirty="0"/>
                        <a:t>Feature</a:t>
                      </a:r>
                    </a:p>
                  </a:txBody>
                  <a:tcPr/>
                </a:tc>
                <a:tc>
                  <a:txBody>
                    <a:bodyPr/>
                    <a:lstStyle/>
                    <a:p>
                      <a:pPr algn="ctr"/>
                      <a:r>
                        <a:rPr lang="en-US" sz="2400" dirty="0"/>
                        <a:t>SQL Server 2025</a:t>
                      </a:r>
                    </a:p>
                  </a:txBody>
                  <a:tcPr/>
                </a:tc>
                <a:tc>
                  <a:txBody>
                    <a:bodyPr/>
                    <a:lstStyle/>
                    <a:p>
                      <a:pPr algn="ctr"/>
                      <a:r>
                        <a:rPr lang="en-US" sz="2400" dirty="0"/>
                        <a:t>Edition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Azure SQL DB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Azure SQL MI – 2022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Azure SQL MI – </a:t>
                      </a:r>
                      <a:r>
                        <a:rPr lang="en-US" sz="2400" dirty="0" err="1"/>
                        <a:t>AutD</a:t>
                      </a: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Compatibility level</a:t>
                      </a:r>
                    </a:p>
                  </a:txBody>
                  <a:tcPr/>
                </a:tc>
                <a:extLst>
                  <a:ext uri="{0D108BD9-81ED-4DB2-BD59-A6C34878D82A}">
                    <a16:rowId xmlns:a16="http://schemas.microsoft.com/office/drawing/2014/main" val="39826397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Optimized Locking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algn="ctr"/>
                      <a:r>
                        <a:rPr lang="en-US" sz="2400" dirty="0"/>
                        <a:t>Yes</a:t>
                      </a:r>
                    </a:p>
                  </a:txBody>
                  <a:tcPr/>
                </a:tc>
                <a:tc>
                  <a:txBody>
                    <a:bodyPr/>
                    <a:lstStyle/>
                    <a:p>
                      <a:pPr algn="ctr"/>
                      <a:r>
                        <a:rPr lang="en-US" sz="2400" dirty="0"/>
                        <a:t>No</a:t>
                      </a:r>
                    </a:p>
                  </a:txBody>
                  <a:tcPr/>
                </a:tc>
                <a:tc>
                  <a:txBody>
                    <a:bodyPr/>
                    <a:lstStyle/>
                    <a:p>
                      <a:pPr algn="ct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p>
                  </a:txBody>
                  <a:tcPr/>
                </a:tc>
                <a:extLst>
                  <a:ext uri="{0D108BD9-81ED-4DB2-BD59-A6C34878D82A}">
                    <a16:rowId xmlns:a16="http://schemas.microsoft.com/office/drawing/2014/main" val="302946630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Optimized </a:t>
                      </a:r>
                      <a:r>
                        <a:rPr lang="en-US" sz="2400" dirty="0" err="1"/>
                        <a:t>sp_executesql</a:t>
                      </a: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algn="ctr"/>
                      <a:r>
                        <a:rPr lang="en-US" sz="2400" dirty="0"/>
                        <a:t>Yes</a:t>
                      </a:r>
                    </a:p>
                  </a:txBody>
                  <a:tcPr/>
                </a:tc>
                <a:tc>
                  <a:txBody>
                    <a:bodyPr/>
                    <a:lstStyle/>
                    <a:p>
                      <a:pPr algn="ctr"/>
                      <a:r>
                        <a:rPr lang="en-US" sz="2400" dirty="0"/>
                        <a:t>No</a:t>
                      </a:r>
                    </a:p>
                  </a:txBody>
                  <a:tcPr/>
                </a:tc>
                <a:tc>
                  <a:txBody>
                    <a:bodyPr/>
                    <a:lstStyle/>
                    <a:p>
                      <a:pPr algn="ct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p>
                  </a:txBody>
                  <a:tcPr/>
                </a:tc>
                <a:extLst>
                  <a:ext uri="{0D108BD9-81ED-4DB2-BD59-A6C34878D82A}">
                    <a16:rowId xmlns:a16="http://schemas.microsoft.com/office/drawing/2014/main" val="407279942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Optional Parameter Plan Optimization</a:t>
                      </a:r>
                    </a:p>
                  </a:txBody>
                  <a:tcPr/>
                </a:tc>
                <a:tc>
                  <a:txBody>
                    <a:bodyPr/>
                    <a:lstStyle/>
                    <a:p>
                      <a:pPr algn="ctr"/>
                      <a:r>
                        <a:rPr lang="en-US" sz="2400" dirty="0"/>
                        <a:t>Yes</a:t>
                      </a:r>
                    </a:p>
                  </a:txBody>
                  <a:tcPr/>
                </a:tc>
                <a:tc>
                  <a:txBody>
                    <a:bodyPr/>
                    <a:lstStyle/>
                    <a:p>
                      <a:pPr algn="ctr"/>
                      <a:endParaRPr lang="en-US" sz="2400" dirty="0"/>
                    </a:p>
                  </a:txBody>
                  <a:tcPr/>
                </a:tc>
                <a:tc>
                  <a:txBody>
                    <a:bodyPr/>
                    <a:lstStyle/>
                    <a:p>
                      <a:pPr algn="ctr"/>
                      <a:r>
                        <a:rPr lang="en-US" sz="2400" dirty="0"/>
                        <a:t>Yes</a:t>
                      </a:r>
                    </a:p>
                  </a:txBody>
                  <a:tcPr/>
                </a:tc>
                <a:tc>
                  <a:txBody>
                    <a:bodyPr/>
                    <a:lstStyle/>
                    <a:p>
                      <a:pPr algn="ctr"/>
                      <a:r>
                        <a:rPr lang="en-US" sz="2400" dirty="0"/>
                        <a:t>No</a:t>
                      </a:r>
                    </a:p>
                  </a:txBody>
                  <a:tcPr/>
                </a:tc>
                <a:tc>
                  <a:txBody>
                    <a:bodyPr/>
                    <a:lstStyle/>
                    <a:p>
                      <a:pPr algn="ctr"/>
                      <a:r>
                        <a:rPr lang="en-US" sz="2400" dirty="0"/>
                        <a:t>Rolling out</a:t>
                      </a:r>
                    </a:p>
                  </a:txBody>
                  <a:tcPr/>
                </a:tc>
                <a:tc>
                  <a:txBody>
                    <a:bodyPr/>
                    <a:lstStyle/>
                    <a:p>
                      <a:pPr algn="ctr"/>
                      <a:r>
                        <a:rPr lang="en-US" sz="2400" dirty="0"/>
                        <a:t>170</a:t>
                      </a:r>
                    </a:p>
                  </a:txBody>
                  <a:tcPr/>
                </a:tc>
                <a:extLst>
                  <a:ext uri="{0D108BD9-81ED-4DB2-BD59-A6C34878D82A}">
                    <a16:rowId xmlns:a16="http://schemas.microsoft.com/office/drawing/2014/main" val="70560922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ABORT_QUERY_EXECUTION query hint</a:t>
                      </a:r>
                    </a:p>
                  </a:txBody>
                  <a:tcPr/>
                </a:tc>
                <a:tc>
                  <a:txBody>
                    <a:bodyPr/>
                    <a:lstStyle/>
                    <a:p>
                      <a:pPr algn="ctr"/>
                      <a:r>
                        <a:rPr lang="en-US" sz="2400" dirty="0"/>
                        <a:t>Yes</a:t>
                      </a:r>
                    </a:p>
                  </a:txBody>
                  <a:tcPr/>
                </a:tc>
                <a:tc>
                  <a:txBody>
                    <a:bodyPr/>
                    <a:lstStyle/>
                    <a:p>
                      <a:pPr algn="ctr"/>
                      <a:endParaRPr lang="en-US" sz="2400" dirty="0"/>
                    </a:p>
                  </a:txBody>
                  <a:tcPr/>
                </a:tc>
                <a:tc>
                  <a:txBody>
                    <a:bodyPr/>
                    <a:lstStyle/>
                    <a:p>
                      <a:pPr algn="ctr"/>
                      <a:r>
                        <a:rPr lang="en-US" sz="2400" dirty="0"/>
                        <a:t>Yes</a:t>
                      </a:r>
                    </a:p>
                  </a:txBody>
                  <a:tcPr/>
                </a:tc>
                <a:tc>
                  <a:txBody>
                    <a:bodyPr/>
                    <a:lstStyle/>
                    <a:p>
                      <a:pPr algn="ctr"/>
                      <a:r>
                        <a:rPr lang="en-US" sz="2400" dirty="0"/>
                        <a:t>No</a:t>
                      </a:r>
                    </a:p>
                  </a:txBody>
                  <a:tcPr/>
                </a:tc>
                <a:tc>
                  <a:txBody>
                    <a:bodyPr/>
                    <a:lstStyle/>
                    <a:p>
                      <a:pPr algn="ctr"/>
                      <a:r>
                        <a:rPr lang="en-US" sz="2400" dirty="0"/>
                        <a:t>Yes</a:t>
                      </a:r>
                    </a:p>
                  </a:txBody>
                  <a:tcPr/>
                </a:tc>
                <a:tc>
                  <a:txBody>
                    <a:bodyPr/>
                    <a:lstStyle/>
                    <a:p>
                      <a:pPr algn="ctr"/>
                      <a:r>
                        <a:rPr lang="en-US" sz="2400" dirty="0"/>
                        <a:t>-</a:t>
                      </a:r>
                    </a:p>
                  </a:txBody>
                  <a:tcPr/>
                </a:tc>
                <a:extLst>
                  <a:ext uri="{0D108BD9-81ED-4DB2-BD59-A6C34878D82A}">
                    <a16:rowId xmlns:a16="http://schemas.microsoft.com/office/drawing/2014/main" val="190495581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Query Store for secondary replicas</a:t>
                      </a:r>
                    </a:p>
                  </a:txBody>
                  <a:tcPr/>
                </a:tc>
                <a:tc>
                  <a:txBody>
                    <a:bodyPr/>
                    <a:lstStyle/>
                    <a:p>
                      <a:pPr algn="ctr"/>
                      <a:r>
                        <a:rPr lang="en-US" sz="2400" dirty="0"/>
                        <a:t>Yes</a:t>
                      </a:r>
                    </a:p>
                  </a:txBody>
                  <a:tcPr/>
                </a:tc>
                <a:tc>
                  <a:txBody>
                    <a:bodyPr/>
                    <a:lstStyle/>
                    <a:p>
                      <a:pPr algn="ctr"/>
                      <a:endParaRPr lang="en-US" sz="2400" dirty="0"/>
                    </a:p>
                  </a:txBody>
                  <a:tcPr/>
                </a:tc>
                <a:tc>
                  <a:txBody>
                    <a:bodyPr/>
                    <a:lstStyle/>
                    <a:p>
                      <a:pPr algn="ctr"/>
                      <a:r>
                        <a:rPr lang="en-US" sz="2400" dirty="0"/>
                        <a:t>Yes</a:t>
                      </a:r>
                    </a:p>
                  </a:txBody>
                  <a:tcPr/>
                </a:tc>
                <a:tc>
                  <a:txBody>
                    <a:bodyPr/>
                    <a:lstStyle/>
                    <a:p>
                      <a:pPr algn="ctr"/>
                      <a:r>
                        <a:rPr lang="en-US" sz="2400" dirty="0"/>
                        <a:t>No</a:t>
                      </a:r>
                    </a:p>
                  </a:txBody>
                  <a:tcPr/>
                </a:tc>
                <a:tc>
                  <a:txBody>
                    <a:bodyPr/>
                    <a:lstStyle/>
                    <a:p>
                      <a:pPr algn="ctr"/>
                      <a:r>
                        <a:rPr lang="en-US" sz="2400" dirty="0"/>
                        <a:t>Rolling out</a:t>
                      </a:r>
                    </a:p>
                  </a:txBody>
                  <a:tcPr/>
                </a:tc>
                <a:tc>
                  <a:txBody>
                    <a:bodyPr/>
                    <a:lstStyle/>
                    <a:p>
                      <a:pPr algn="ctr"/>
                      <a:r>
                        <a:rPr lang="en-US" sz="2400" dirty="0"/>
                        <a:t>-</a:t>
                      </a:r>
                    </a:p>
                  </a:txBody>
                  <a:tcPr/>
                </a:tc>
                <a:extLst>
                  <a:ext uri="{0D108BD9-81ED-4DB2-BD59-A6C34878D82A}">
                    <a16:rowId xmlns:a16="http://schemas.microsoft.com/office/drawing/2014/main" val="771415162"/>
                  </a:ext>
                </a:extLst>
              </a:tr>
            </a:tbl>
          </a:graphicData>
        </a:graphic>
      </p:graphicFrame>
    </p:spTree>
    <p:extLst>
      <p:ext uri="{BB962C8B-B14F-4D97-AF65-F5344CB8AC3E}">
        <p14:creationId xmlns:p14="http://schemas.microsoft.com/office/powerpoint/2010/main" val="357134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462F1-7342-D276-AB63-94EDF2351B3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1E380C-E879-A8C3-EBD8-546224FA3B52}"/>
              </a:ext>
            </a:extLst>
          </p:cNvPr>
          <p:cNvSpPr>
            <a:spLocks noGrp="1"/>
          </p:cNvSpPr>
          <p:nvPr>
            <p:ph type="title"/>
          </p:nvPr>
        </p:nvSpPr>
        <p:spPr>
          <a:xfrm>
            <a:off x="109463" y="-22277"/>
            <a:ext cx="12033197" cy="1143000"/>
          </a:xfrm>
        </p:spPr>
        <p:txBody>
          <a:bodyPr>
            <a:normAutofit/>
          </a:bodyPr>
          <a:lstStyle/>
          <a:p>
            <a:r>
              <a:rPr lang="en-US" dirty="0">
                <a:solidFill>
                  <a:schemeClr val="tx2"/>
                </a:solidFill>
              </a:rPr>
              <a:t>Database Engine Performance Improvements </a:t>
            </a:r>
          </a:p>
        </p:txBody>
      </p:sp>
      <p:graphicFrame>
        <p:nvGraphicFramePr>
          <p:cNvPr id="2" name="Table 1">
            <a:extLst>
              <a:ext uri="{FF2B5EF4-FFF2-40B4-BE49-F238E27FC236}">
                <a16:creationId xmlns:a16="http://schemas.microsoft.com/office/drawing/2014/main" id="{0C5759ED-D2D8-2821-458F-0826D9CC974D}"/>
              </a:ext>
            </a:extLst>
          </p:cNvPr>
          <p:cNvGraphicFramePr>
            <a:graphicFrameLocks noGrp="1"/>
          </p:cNvGraphicFramePr>
          <p:nvPr>
            <p:extLst>
              <p:ext uri="{D42A27DB-BD31-4B8C-83A1-F6EECF244321}">
                <p14:modId xmlns:p14="http://schemas.microsoft.com/office/powerpoint/2010/main" val="310765647"/>
              </p:ext>
            </p:extLst>
          </p:nvPr>
        </p:nvGraphicFramePr>
        <p:xfrm>
          <a:off x="84523" y="1180573"/>
          <a:ext cx="12033195" cy="3749040"/>
        </p:xfrm>
        <a:graphic>
          <a:graphicData uri="http://schemas.openxmlformats.org/drawingml/2006/table">
            <a:tbl>
              <a:tblPr firstRow="1" bandRow="1">
                <a:tableStyleId>{72833802-FEF1-4C79-8D5D-14CF1EAF98D9}</a:tableStyleId>
              </a:tblPr>
              <a:tblGrid>
                <a:gridCol w="4213157">
                  <a:extLst>
                    <a:ext uri="{9D8B030D-6E8A-4147-A177-3AD203B41FA5}">
                      <a16:colId xmlns:a16="http://schemas.microsoft.com/office/drawing/2014/main" val="2957349378"/>
                    </a:ext>
                  </a:extLst>
                </a:gridCol>
                <a:gridCol w="996696">
                  <a:extLst>
                    <a:ext uri="{9D8B030D-6E8A-4147-A177-3AD203B41FA5}">
                      <a16:colId xmlns:a16="http://schemas.microsoft.com/office/drawing/2014/main" val="4082491960"/>
                    </a:ext>
                  </a:extLst>
                </a:gridCol>
                <a:gridCol w="1508760">
                  <a:extLst>
                    <a:ext uri="{9D8B030D-6E8A-4147-A177-3AD203B41FA5}">
                      <a16:colId xmlns:a16="http://schemas.microsoft.com/office/drawing/2014/main" val="2519780249"/>
                    </a:ext>
                  </a:extLst>
                </a:gridCol>
                <a:gridCol w="1133856">
                  <a:extLst>
                    <a:ext uri="{9D8B030D-6E8A-4147-A177-3AD203B41FA5}">
                      <a16:colId xmlns:a16="http://schemas.microsoft.com/office/drawing/2014/main" val="2475275127"/>
                    </a:ext>
                  </a:extLst>
                </a:gridCol>
                <a:gridCol w="1188720">
                  <a:extLst>
                    <a:ext uri="{9D8B030D-6E8A-4147-A177-3AD203B41FA5}">
                      <a16:colId xmlns:a16="http://schemas.microsoft.com/office/drawing/2014/main" val="408314800"/>
                    </a:ext>
                  </a:extLst>
                </a:gridCol>
                <a:gridCol w="1097280">
                  <a:extLst>
                    <a:ext uri="{9D8B030D-6E8A-4147-A177-3AD203B41FA5}">
                      <a16:colId xmlns:a16="http://schemas.microsoft.com/office/drawing/2014/main" val="3117324270"/>
                    </a:ext>
                  </a:extLst>
                </a:gridCol>
                <a:gridCol w="1894726">
                  <a:extLst>
                    <a:ext uri="{9D8B030D-6E8A-4147-A177-3AD203B41FA5}">
                      <a16:colId xmlns:a16="http://schemas.microsoft.com/office/drawing/2014/main" val="500740504"/>
                    </a:ext>
                  </a:extLst>
                </a:gridCol>
              </a:tblGrid>
              <a:tr h="0">
                <a:tc>
                  <a:txBody>
                    <a:bodyPr/>
                    <a:lstStyle/>
                    <a:p>
                      <a:r>
                        <a:rPr lang="en-US" sz="2400" dirty="0"/>
                        <a:t>Feature</a:t>
                      </a:r>
                    </a:p>
                  </a:txBody>
                  <a:tcPr/>
                </a:tc>
                <a:tc>
                  <a:txBody>
                    <a:bodyPr/>
                    <a:lstStyle/>
                    <a:p>
                      <a:pPr algn="ctr"/>
                      <a:r>
                        <a:rPr lang="en-US" sz="2400" dirty="0"/>
                        <a:t>SQL Server 2025</a:t>
                      </a:r>
                    </a:p>
                  </a:txBody>
                  <a:tcPr/>
                </a:tc>
                <a:tc>
                  <a:txBody>
                    <a:bodyPr/>
                    <a:lstStyle/>
                    <a:p>
                      <a:pPr algn="ctr"/>
                      <a:r>
                        <a:rPr lang="en-US" sz="2400" dirty="0"/>
                        <a:t>Edition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Azure SQL DB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Azure SQL MI – 2022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Azure SQL MI – </a:t>
                      </a:r>
                      <a:r>
                        <a:rPr lang="en-US" sz="2400" dirty="0" err="1"/>
                        <a:t>AutD</a:t>
                      </a: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Compatibility level</a:t>
                      </a:r>
                    </a:p>
                  </a:txBody>
                  <a:tcPr/>
                </a:tc>
                <a:extLst>
                  <a:ext uri="{0D108BD9-81ED-4DB2-BD59-A6C34878D82A}">
                    <a16:rowId xmlns:a16="http://schemas.microsoft.com/office/drawing/2014/main" val="3982639724"/>
                  </a:ext>
                </a:extLst>
              </a:tr>
              <a:tr h="0">
                <a:tc>
                  <a:txBody>
                    <a:bodyPr/>
                    <a:lstStyle/>
                    <a:p>
                      <a:r>
                        <a:rPr lang="en-US" sz="2400" dirty="0"/>
                        <a:t>Security cache improvements</a:t>
                      </a:r>
                    </a:p>
                  </a:txBody>
                  <a:tcPr/>
                </a:tc>
                <a:tc>
                  <a:txBody>
                    <a:bodyPr/>
                    <a:lstStyle/>
                    <a:p>
                      <a:pPr algn="ctr"/>
                      <a:r>
                        <a:rPr lang="en-US" sz="2400" dirty="0"/>
                        <a:t>Yes</a:t>
                      </a:r>
                    </a:p>
                  </a:txBody>
                  <a:tcPr/>
                </a:tc>
                <a:tc>
                  <a:txBody>
                    <a:bodyPr/>
                    <a:lstStyle/>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p>
                  </a:txBody>
                  <a:tcPr/>
                </a:tc>
                <a:extLst>
                  <a:ext uri="{0D108BD9-81ED-4DB2-BD59-A6C34878D82A}">
                    <a16:rowId xmlns:a16="http://schemas.microsoft.com/office/drawing/2014/main" val="376792518"/>
                  </a:ext>
                </a:extLst>
              </a:tr>
              <a:tr h="0">
                <a:tc>
                  <a:txBody>
                    <a:bodyPr/>
                    <a:lstStyle/>
                    <a:p>
                      <a:r>
                        <a:rPr lang="en-US" sz="2400" dirty="0"/>
                        <a:t>Backups on secondary replicas</a:t>
                      </a:r>
                    </a:p>
                  </a:txBody>
                  <a:tcPr/>
                </a:tc>
                <a:tc>
                  <a:txBody>
                    <a:bodyPr/>
                    <a:lstStyle/>
                    <a:p>
                      <a:pPr algn="ctr"/>
                      <a:r>
                        <a:rPr lang="en-US" sz="2400" dirty="0"/>
                        <a:t>Yes</a:t>
                      </a:r>
                    </a:p>
                  </a:txBody>
                  <a:tcPr/>
                </a:tc>
                <a:tc>
                  <a:txBody>
                    <a:bodyPr/>
                    <a:lstStyle/>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p>
                  </a:txBody>
                  <a:tcPr/>
                </a:tc>
                <a:extLst>
                  <a:ext uri="{0D108BD9-81ED-4DB2-BD59-A6C34878D82A}">
                    <a16:rowId xmlns:a16="http://schemas.microsoft.com/office/drawing/2014/main" val="2588567054"/>
                  </a:ext>
                </a:extLst>
              </a:tr>
              <a:tr h="0">
                <a:tc>
                  <a:txBody>
                    <a:bodyPr/>
                    <a:lstStyle/>
                    <a:p>
                      <a:r>
                        <a:rPr lang="en-US" sz="2400" dirty="0"/>
                        <a:t>ZSTD backup compression algorithm</a:t>
                      </a:r>
                    </a:p>
                  </a:txBody>
                  <a:tcPr/>
                </a:tc>
                <a:tc>
                  <a:txBody>
                    <a:bodyPr/>
                    <a:lstStyle/>
                    <a:p>
                      <a:pPr algn="ctr"/>
                      <a:r>
                        <a:rPr lang="en-US" sz="2400" dirty="0"/>
                        <a:t>Yes</a:t>
                      </a:r>
                    </a:p>
                  </a:txBody>
                  <a:tcPr/>
                </a:tc>
                <a:tc>
                  <a:txBody>
                    <a:bodyPr/>
                    <a:lstStyle/>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p>
                  </a:txBody>
                  <a:tcPr/>
                </a:tc>
                <a:extLst>
                  <a:ext uri="{0D108BD9-81ED-4DB2-BD59-A6C34878D82A}">
                    <a16:rowId xmlns:a16="http://schemas.microsoft.com/office/drawing/2014/main" val="1454529536"/>
                  </a:ext>
                </a:extLst>
              </a:tr>
              <a:tr h="0">
                <a:tc>
                  <a:txBody>
                    <a:bodyPr/>
                    <a:lstStyle/>
                    <a:p>
                      <a:r>
                        <a:rPr lang="en-US" sz="2400" dirty="0"/>
                        <a:t>Accelerated database recovery in </a:t>
                      </a:r>
                      <a:r>
                        <a:rPr lang="en-US" sz="2400" dirty="0" err="1"/>
                        <a:t>tempdb</a:t>
                      </a:r>
                      <a:endParaRPr lang="en-US" sz="2400" dirty="0"/>
                    </a:p>
                  </a:txBody>
                  <a:tcPr/>
                </a:tc>
                <a:tc>
                  <a:txBody>
                    <a:bodyPr/>
                    <a:lstStyle/>
                    <a:p>
                      <a:pPr algn="ctr"/>
                      <a:r>
                        <a:rPr lang="en-US" sz="2400" dirty="0"/>
                        <a:t>Yes</a:t>
                      </a:r>
                    </a:p>
                  </a:txBody>
                  <a:tcPr/>
                </a:tc>
                <a:tc>
                  <a:txBody>
                    <a:bodyPr/>
                    <a:lstStyle/>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Yes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p>
                  </a:txBody>
                  <a:tcPr/>
                </a:tc>
                <a:extLst>
                  <a:ext uri="{0D108BD9-81ED-4DB2-BD59-A6C34878D82A}">
                    <a16:rowId xmlns:a16="http://schemas.microsoft.com/office/drawing/2014/main" val="1964900332"/>
                  </a:ext>
                </a:extLst>
              </a:tr>
            </a:tbl>
          </a:graphicData>
        </a:graphic>
      </p:graphicFrame>
    </p:spTree>
    <p:extLst>
      <p:ext uri="{BB962C8B-B14F-4D97-AF65-F5344CB8AC3E}">
        <p14:creationId xmlns:p14="http://schemas.microsoft.com/office/powerpoint/2010/main" val="1638997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8FA0A-CCBC-0756-4F75-DDE0B46574B8}"/>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Optimized Locking</a:t>
            </a:r>
          </a:p>
        </p:txBody>
      </p:sp>
      <p:graphicFrame>
        <p:nvGraphicFramePr>
          <p:cNvPr id="6" name="Table 5">
            <a:extLst>
              <a:ext uri="{FF2B5EF4-FFF2-40B4-BE49-F238E27FC236}">
                <a16:creationId xmlns:a16="http://schemas.microsoft.com/office/drawing/2014/main" id="{3897362C-4F4D-82CA-0D59-6975967B43FB}"/>
              </a:ext>
            </a:extLst>
          </p:cNvPr>
          <p:cNvGraphicFramePr>
            <a:graphicFrameLocks noGrp="1"/>
          </p:cNvGraphicFramePr>
          <p:nvPr>
            <p:extLst>
              <p:ext uri="{D42A27DB-BD31-4B8C-83A1-F6EECF244321}">
                <p14:modId xmlns:p14="http://schemas.microsoft.com/office/powerpoint/2010/main" val="1086398411"/>
              </p:ext>
            </p:extLst>
          </p:nvPr>
        </p:nvGraphicFramePr>
        <p:xfrm>
          <a:off x="261257" y="1151696"/>
          <a:ext cx="11741204" cy="523996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440929">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793672">
                <a:tc>
                  <a:txBody>
                    <a:bodyPr/>
                    <a:lstStyle/>
                    <a:p>
                      <a:r>
                        <a:rPr lang="en-US" sz="2400" dirty="0"/>
                        <a:t>Background</a:t>
                      </a:r>
                    </a:p>
                  </a:txBody>
                  <a:tcPr/>
                </a:tc>
                <a:tc>
                  <a:txBody>
                    <a:bodyPr/>
                    <a:lstStyle/>
                    <a:p>
                      <a:r>
                        <a:rPr lang="en-US" sz="2400" dirty="0"/>
                        <a:t>“Lock escalation is the process of converting many fine-grained locks (such as row or page locks) to table locks. SQL Server dynamically determines when to do lock escalation.”</a:t>
                      </a:r>
                    </a:p>
                  </a:txBody>
                  <a:tcPr/>
                </a:tc>
                <a:extLst>
                  <a:ext uri="{0D108BD9-81ED-4DB2-BD59-A6C34878D82A}">
                    <a16:rowId xmlns:a16="http://schemas.microsoft.com/office/drawing/2014/main" val="3500033480"/>
                  </a:ext>
                </a:extLst>
              </a:tr>
              <a:tr h="466792">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SQL Server escalates to a table lock, it will block other transactions.</a:t>
                      </a:r>
                    </a:p>
                  </a:txBody>
                  <a:tcPr/>
                </a:tc>
                <a:extLst>
                  <a:ext uri="{0D108BD9-81ED-4DB2-BD59-A6C34878D82A}">
                    <a16:rowId xmlns:a16="http://schemas.microsoft.com/office/drawing/2014/main" val="3797409749"/>
                  </a:ext>
                </a:extLst>
              </a:tr>
              <a:tr h="1207008">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With Optimized Locking, a lock is placed on the Transaction ID (TID) and held until the end of the transaction, while row locks are released after each row is updated.</a:t>
                      </a:r>
                    </a:p>
                  </a:txBody>
                  <a:tcPr/>
                </a:tc>
                <a:extLst>
                  <a:ext uri="{0D108BD9-81ED-4DB2-BD59-A6C34878D82A}">
                    <a16:rowId xmlns:a16="http://schemas.microsoft.com/office/drawing/2014/main" val="97859895"/>
                  </a:ext>
                </a:extLst>
              </a:tr>
              <a:tr h="535802">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Out of the box in Azure SQL Database and Azure SQL Managed Instance</a:t>
                      </a:r>
                      <a:br>
                        <a:rPr lang="en-US" sz="2400" dirty="0"/>
                      </a:br>
                      <a:r>
                        <a:rPr lang="en-US" sz="24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2025:</a:t>
                      </a:r>
                      <a:br>
                        <a:rPr lang="en-US" sz="2400" dirty="0"/>
                      </a:br>
                      <a:r>
                        <a:rPr lang="en-US" sz="2400" dirty="0"/>
                        <a:t>ALTER DATABASE ... SET OPTIMIZED_LOCKING = ON</a:t>
                      </a:r>
                      <a:br>
                        <a:rPr lang="en-US" sz="2400" dirty="0"/>
                      </a:br>
                      <a:r>
                        <a:rPr lang="en-US" sz="2400" dirty="0"/>
                        <a:t>Requires Accelerated Database Recovery to be enabled</a:t>
                      </a:r>
                    </a:p>
                  </a:txBody>
                  <a:tcPr/>
                </a:tc>
                <a:extLst>
                  <a:ext uri="{0D108BD9-81ED-4DB2-BD59-A6C34878D82A}">
                    <a16:rowId xmlns:a16="http://schemas.microsoft.com/office/drawing/2014/main" val="4177887529"/>
                  </a:ext>
                </a:extLst>
              </a:tr>
            </a:tbl>
          </a:graphicData>
        </a:graphic>
      </p:graphicFrame>
    </p:spTree>
    <p:extLst>
      <p:ext uri="{BB962C8B-B14F-4D97-AF65-F5344CB8AC3E}">
        <p14:creationId xmlns:p14="http://schemas.microsoft.com/office/powerpoint/2010/main" val="597379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FF2BA-F382-56AC-3E72-E2190C5D3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881AF-C217-9CB3-D150-11279B685735}"/>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Optimized </a:t>
            </a:r>
            <a:r>
              <a:rPr lang="en-US" dirty="0" err="1">
                <a:solidFill>
                  <a:schemeClr val="tx2"/>
                </a:solidFill>
              </a:rPr>
              <a:t>sp_executesql</a:t>
            </a:r>
            <a:endParaRPr lang="en-US" dirty="0">
              <a:solidFill>
                <a:schemeClr val="tx2"/>
              </a:solidFill>
            </a:endParaRPr>
          </a:p>
        </p:txBody>
      </p:sp>
      <p:graphicFrame>
        <p:nvGraphicFramePr>
          <p:cNvPr id="6" name="Table 5">
            <a:extLst>
              <a:ext uri="{FF2B5EF4-FFF2-40B4-BE49-F238E27FC236}">
                <a16:creationId xmlns:a16="http://schemas.microsoft.com/office/drawing/2014/main" id="{349B5C0D-9161-2369-13BD-C383EF9BD762}"/>
              </a:ext>
            </a:extLst>
          </p:cNvPr>
          <p:cNvGraphicFramePr>
            <a:graphicFrameLocks noGrp="1"/>
          </p:cNvGraphicFramePr>
          <p:nvPr>
            <p:extLst>
              <p:ext uri="{D42A27DB-BD31-4B8C-83A1-F6EECF244321}">
                <p14:modId xmlns:p14="http://schemas.microsoft.com/office/powerpoint/2010/main" val="1040053023"/>
              </p:ext>
            </p:extLst>
          </p:nvPr>
        </p:nvGraphicFramePr>
        <p:xfrm>
          <a:off x="261257" y="1151696"/>
          <a:ext cx="11741204" cy="448056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440929">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793672">
                <a:tc>
                  <a:txBody>
                    <a:bodyPr/>
                    <a:lstStyle/>
                    <a:p>
                      <a:r>
                        <a:rPr lang="en-US" sz="2400" dirty="0"/>
                        <a:t>Background</a:t>
                      </a:r>
                    </a:p>
                  </a:txBody>
                  <a:tcPr/>
                </a:tc>
                <a:tc>
                  <a:txBody>
                    <a:bodyPr/>
                    <a:lstStyle/>
                    <a:p>
                      <a:r>
                        <a:rPr lang="en-US" sz="2400" dirty="0"/>
                        <a:t>When an application executes a query for the first time, SQL Server creates an execution plan and caches it.</a:t>
                      </a:r>
                    </a:p>
                  </a:txBody>
                  <a:tcPr/>
                </a:tc>
                <a:extLst>
                  <a:ext uri="{0D108BD9-81ED-4DB2-BD59-A6C34878D82A}">
                    <a16:rowId xmlns:a16="http://schemas.microsoft.com/office/drawing/2014/main" val="3500033480"/>
                  </a:ext>
                </a:extLst>
              </a:tr>
              <a:tr h="466792">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For parameterized SQL (that is, using </a:t>
                      </a:r>
                      <a:r>
                        <a:rPr lang="en-US" sz="2400" dirty="0" err="1"/>
                        <a:t>sp_executesql</a:t>
                      </a:r>
                      <a:r>
                        <a:rPr lang="en-US" sz="2400" dirty="0"/>
                        <a:t>), SQL Server does not acquire compile locks. This can result in compilation storms.</a:t>
                      </a:r>
                    </a:p>
                  </a:txBody>
                  <a:tcPr/>
                </a:tc>
                <a:extLst>
                  <a:ext uri="{0D108BD9-81ED-4DB2-BD59-A6C34878D82A}">
                    <a16:rowId xmlns:a16="http://schemas.microsoft.com/office/drawing/2014/main" val="3797409749"/>
                  </a:ext>
                </a:extLst>
              </a:tr>
              <a:tr h="1207008">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batches are identical (excluding any parameter differences), the OPTIMIZED_SP_EXECUTESQL option tries to obtain a compile lock as an enforcement mechanism to guarantee that the compilation process is serialized.”</a:t>
                      </a:r>
                    </a:p>
                  </a:txBody>
                  <a:tcPr/>
                </a:tc>
                <a:extLst>
                  <a:ext uri="{0D108BD9-81ED-4DB2-BD59-A6C34878D82A}">
                    <a16:rowId xmlns:a16="http://schemas.microsoft.com/office/drawing/2014/main" val="97859895"/>
                  </a:ext>
                </a:extLst>
              </a:tr>
              <a:tr h="535802">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ALTER DATABASE SCOPED CONFIGURATION SET OPTIMIZED_SP_EXECUTESQL = ON</a:t>
                      </a:r>
                    </a:p>
                  </a:txBody>
                  <a:tcPr/>
                </a:tc>
                <a:extLst>
                  <a:ext uri="{0D108BD9-81ED-4DB2-BD59-A6C34878D82A}">
                    <a16:rowId xmlns:a16="http://schemas.microsoft.com/office/drawing/2014/main" val="4177887529"/>
                  </a:ext>
                </a:extLst>
              </a:tr>
            </a:tbl>
          </a:graphicData>
        </a:graphic>
      </p:graphicFrame>
    </p:spTree>
    <p:extLst>
      <p:ext uri="{BB962C8B-B14F-4D97-AF65-F5344CB8AC3E}">
        <p14:creationId xmlns:p14="http://schemas.microsoft.com/office/powerpoint/2010/main" val="109966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8FB5-E29A-CBF3-3304-433720A58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009C2-06CC-5FAE-24B9-12E714F77C18}"/>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Optional Parameter Plan Optimization</a:t>
            </a:r>
          </a:p>
        </p:txBody>
      </p:sp>
      <p:graphicFrame>
        <p:nvGraphicFramePr>
          <p:cNvPr id="6" name="Table 5">
            <a:extLst>
              <a:ext uri="{FF2B5EF4-FFF2-40B4-BE49-F238E27FC236}">
                <a16:creationId xmlns:a16="http://schemas.microsoft.com/office/drawing/2014/main" id="{47232AA4-6EF9-0744-CAB3-E13152C228FB}"/>
              </a:ext>
            </a:extLst>
          </p:cNvPr>
          <p:cNvGraphicFramePr>
            <a:graphicFrameLocks noGrp="1"/>
          </p:cNvGraphicFramePr>
          <p:nvPr>
            <p:extLst>
              <p:ext uri="{D42A27DB-BD31-4B8C-83A1-F6EECF244321}">
                <p14:modId xmlns:p14="http://schemas.microsoft.com/office/powerpoint/2010/main" val="2841042080"/>
              </p:ext>
            </p:extLst>
          </p:nvPr>
        </p:nvGraphicFramePr>
        <p:xfrm>
          <a:off x="261257" y="1151697"/>
          <a:ext cx="11741204" cy="502920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431010">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1465435">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 classic problem in SQL Server is retrieving rows based on a parameter, or all rows if the parameter is not provided (i.e., @CustomerID IS NULL):</a:t>
                      </a:r>
                      <a:br>
                        <a:rPr lang="en-US" sz="2400" dirty="0"/>
                      </a:br>
                      <a:br>
                        <a:rPr lang="en-US" sz="2400" dirty="0"/>
                      </a:br>
                      <a:r>
                        <a:rPr lang="en-US" sz="2400" dirty="0"/>
                        <a:t>SELECT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FROM </a:t>
                      </a:r>
                      <a:r>
                        <a:rPr lang="en-US" sz="2400" dirty="0" err="1"/>
                        <a:t>Sales.Orders</a:t>
                      </a:r>
                      <a:endParaRPr lang="en-US"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WHERE </a:t>
                      </a:r>
                      <a:r>
                        <a:rPr lang="en-US" sz="2400" dirty="0" err="1"/>
                        <a:t>CustomerID</a:t>
                      </a:r>
                      <a:r>
                        <a:rPr lang="en-US" sz="2400" dirty="0"/>
                        <a:t> = @CustomerID OR @CustomerID IS NULL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The query is subject to parameter sniffing and may cache a plan that is optimal for either a single customer or for all customers.</a:t>
                      </a:r>
                    </a:p>
                  </a:txBody>
                  <a:tcPr/>
                </a:tc>
                <a:extLst>
                  <a:ext uri="{0D108BD9-81ED-4DB2-BD59-A6C34878D82A}">
                    <a16:rowId xmlns:a16="http://schemas.microsoft.com/office/drawing/2014/main" val="3797409749"/>
                  </a:ext>
                </a:extLst>
              </a:tr>
              <a:tr h="775819">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2025 introduces a new feature, </a:t>
                      </a:r>
                      <a:r>
                        <a:rPr lang="en-US" sz="2400" b="1" dirty="0"/>
                        <a:t>Optional Parameter Plan Optimization</a:t>
                      </a:r>
                      <a:r>
                        <a:rPr lang="en-US" sz="2400" dirty="0"/>
                        <a:t>, which creates different query variants and possibly different plans for the different cases.</a:t>
                      </a:r>
                      <a:endParaRPr lang="en-US" sz="2400" b="0" dirty="0"/>
                    </a:p>
                  </a:txBody>
                  <a:tcPr/>
                </a:tc>
                <a:extLst>
                  <a:ext uri="{0D108BD9-81ED-4DB2-BD59-A6C34878D82A}">
                    <a16:rowId xmlns:a16="http://schemas.microsoft.com/office/drawing/2014/main" val="97859895"/>
                  </a:ext>
                </a:extLst>
              </a:tr>
            </a:tbl>
          </a:graphicData>
        </a:graphic>
      </p:graphicFrame>
    </p:spTree>
    <p:extLst>
      <p:ext uri="{BB962C8B-B14F-4D97-AF65-F5344CB8AC3E}">
        <p14:creationId xmlns:p14="http://schemas.microsoft.com/office/powerpoint/2010/main" val="6669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6FA3-D74C-5511-7861-80D998A3C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74A20-4C0D-F45B-D460-14F616064698}"/>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Optional Parameter Plan Optimization</a:t>
            </a:r>
          </a:p>
        </p:txBody>
      </p:sp>
      <p:graphicFrame>
        <p:nvGraphicFramePr>
          <p:cNvPr id="6" name="Table 5">
            <a:extLst>
              <a:ext uri="{FF2B5EF4-FFF2-40B4-BE49-F238E27FC236}">
                <a16:creationId xmlns:a16="http://schemas.microsoft.com/office/drawing/2014/main" id="{CE380853-CD8F-8CB7-D6E3-DE880D795197}"/>
              </a:ext>
            </a:extLst>
          </p:cNvPr>
          <p:cNvGraphicFramePr>
            <a:graphicFrameLocks noGrp="1"/>
          </p:cNvGraphicFramePr>
          <p:nvPr>
            <p:extLst>
              <p:ext uri="{D42A27DB-BD31-4B8C-83A1-F6EECF244321}">
                <p14:modId xmlns:p14="http://schemas.microsoft.com/office/powerpoint/2010/main" val="426449171"/>
              </p:ext>
            </p:extLst>
          </p:nvPr>
        </p:nvGraphicFramePr>
        <p:xfrm>
          <a:off x="261257" y="1151697"/>
          <a:ext cx="11741204" cy="2841318"/>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23972">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355150">
                <a:tc>
                  <a:txBody>
                    <a:bodyPr/>
                    <a:lstStyle/>
                    <a:p>
                      <a:r>
                        <a:rPr lang="en-US" sz="2400" dirty="0"/>
                        <a:t>Limitations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PSP and OPPO together will create query variants for up to three predicates.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C00000"/>
                          </a:solidFill>
                        </a:rPr>
                        <a:t>For complex search queries with many parameters, you still need to use either OPTION (RECOMPILE) or dynamic SQL for optimal performance.</a:t>
                      </a:r>
                    </a:p>
                  </a:txBody>
                  <a:tcPr/>
                </a:tc>
                <a:extLst>
                  <a:ext uri="{0D108BD9-81ED-4DB2-BD59-A6C34878D82A}">
                    <a16:rowId xmlns:a16="http://schemas.microsoft.com/office/drawing/2014/main" val="3797409749"/>
                  </a:ext>
                </a:extLst>
              </a:tr>
              <a:tr h="463878">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ALTER DATABASE [DB] SET COMPATIBILITY_LEVEL = 170</a:t>
                      </a:r>
                    </a:p>
                  </a:txBody>
                  <a:tcPr/>
                </a:tc>
                <a:extLst>
                  <a:ext uri="{0D108BD9-81ED-4DB2-BD59-A6C34878D82A}">
                    <a16:rowId xmlns:a16="http://schemas.microsoft.com/office/drawing/2014/main" val="97859895"/>
                  </a:ext>
                </a:extLst>
              </a:tr>
            </a:tbl>
          </a:graphicData>
        </a:graphic>
      </p:graphicFrame>
    </p:spTree>
    <p:extLst>
      <p:ext uri="{BB962C8B-B14F-4D97-AF65-F5344CB8AC3E}">
        <p14:creationId xmlns:p14="http://schemas.microsoft.com/office/powerpoint/2010/main" val="3303659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79B43-2679-E3B2-8902-5546AC7DF8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663D5-D800-AED4-D933-29116536DE91}"/>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ABORT_QUERY_EXECUTION query hint</a:t>
            </a:r>
          </a:p>
        </p:txBody>
      </p:sp>
      <p:graphicFrame>
        <p:nvGraphicFramePr>
          <p:cNvPr id="6" name="Table 5">
            <a:extLst>
              <a:ext uri="{FF2B5EF4-FFF2-40B4-BE49-F238E27FC236}">
                <a16:creationId xmlns:a16="http://schemas.microsoft.com/office/drawing/2014/main" id="{AC160605-0673-5A27-C9F9-F988DD408619}"/>
              </a:ext>
            </a:extLst>
          </p:cNvPr>
          <p:cNvGraphicFramePr>
            <a:graphicFrameLocks noGrp="1"/>
          </p:cNvGraphicFramePr>
          <p:nvPr>
            <p:extLst>
              <p:ext uri="{D42A27DB-BD31-4B8C-83A1-F6EECF244321}">
                <p14:modId xmlns:p14="http://schemas.microsoft.com/office/powerpoint/2010/main" val="2887098071"/>
              </p:ext>
            </p:extLst>
          </p:nvPr>
        </p:nvGraphicFramePr>
        <p:xfrm>
          <a:off x="261257" y="1151696"/>
          <a:ext cx="11741204" cy="540041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440929">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466792">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You have an application that frequently executes an expensive query, impacting SQL Server performance. The query isn’t important to the application, but you can’t stop it from running.</a:t>
                      </a:r>
                    </a:p>
                  </a:txBody>
                  <a:tcPr/>
                </a:tc>
                <a:extLst>
                  <a:ext uri="{0D108BD9-81ED-4DB2-BD59-A6C34878D82A}">
                    <a16:rowId xmlns:a16="http://schemas.microsoft.com/office/drawing/2014/main" val="3797409749"/>
                  </a:ext>
                </a:extLst>
              </a:tr>
              <a:tr h="1207008">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t>SQL Server 2025 introduces a new query hint, ABORT_QUERY_EXECUTION, that you can apply through Query Store to stop a query from running.</a:t>
                      </a:r>
                    </a:p>
                  </a:txBody>
                  <a:tcPr/>
                </a:tc>
                <a:extLst>
                  <a:ext uri="{0D108BD9-81ED-4DB2-BD59-A6C34878D82A}">
                    <a16:rowId xmlns:a16="http://schemas.microsoft.com/office/drawing/2014/main" val="97859895"/>
                  </a:ext>
                </a:extLst>
              </a:tr>
              <a:tr h="535802">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Query Store must be enabled.</a:t>
                      </a:r>
                    </a:p>
                  </a:txBody>
                  <a:tcPr/>
                </a:tc>
                <a:extLst>
                  <a:ext uri="{0D108BD9-81ED-4DB2-BD59-A6C34878D82A}">
                    <a16:rowId xmlns:a16="http://schemas.microsoft.com/office/drawing/2014/main" val="4177887529"/>
                  </a:ext>
                </a:extLst>
              </a:tr>
              <a:tr h="535802">
                <a:tc>
                  <a:txBody>
                    <a:bodyPr/>
                    <a:lstStyle/>
                    <a:p>
                      <a:r>
                        <a:rPr lang="en-US" sz="2400" dirty="0"/>
                        <a:t>How to use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EXECUTE </a:t>
                      </a:r>
                      <a:r>
                        <a:rPr lang="en-US" sz="2400" dirty="0" err="1"/>
                        <a:t>sys.sp_query_store_set_hints</a:t>
                      </a:r>
                      <a:r>
                        <a:rPr lang="en-US" sz="2400" dirty="0"/>
                        <a:t> @query_id = 1, @query_hints = N'OPTION (USE HINT (''ABORT_QUERY_EXECUTION''))'</a:t>
                      </a:r>
                    </a:p>
                  </a:txBody>
                  <a:tcPr/>
                </a:tc>
                <a:extLst>
                  <a:ext uri="{0D108BD9-81ED-4DB2-BD59-A6C34878D82A}">
                    <a16:rowId xmlns:a16="http://schemas.microsoft.com/office/drawing/2014/main" val="2896513741"/>
                  </a:ext>
                </a:extLst>
              </a:tr>
              <a:tr h="535802">
                <a:tc>
                  <a:txBody>
                    <a:bodyPr/>
                    <a:lstStyle/>
                    <a:p>
                      <a:r>
                        <a:rPr lang="en-US" sz="2400" dirty="0"/>
                        <a:t>What happens to the query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The query fails with error 8778:</a:t>
                      </a:r>
                      <a:br>
                        <a:rPr lang="en-US" sz="2400" dirty="0"/>
                      </a:br>
                      <a:r>
                        <a:rPr lang="en-US" sz="2400" dirty="0"/>
                        <a:t>“Query execution has been aborted because the ABORT_QUERY_EXECUTION hint was specified.”</a:t>
                      </a:r>
                    </a:p>
                  </a:txBody>
                  <a:tcPr/>
                </a:tc>
                <a:extLst>
                  <a:ext uri="{0D108BD9-81ED-4DB2-BD59-A6C34878D82A}">
                    <a16:rowId xmlns:a16="http://schemas.microsoft.com/office/drawing/2014/main" val="2631291424"/>
                  </a:ext>
                </a:extLst>
              </a:tr>
            </a:tbl>
          </a:graphicData>
        </a:graphic>
      </p:graphicFrame>
    </p:spTree>
    <p:extLst>
      <p:ext uri="{BB962C8B-B14F-4D97-AF65-F5344CB8AC3E}">
        <p14:creationId xmlns:p14="http://schemas.microsoft.com/office/powerpoint/2010/main" val="1070177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F9513-183C-2203-830B-A51AF975F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E488B-EE2B-A435-3F24-3732E0BFB434}"/>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Query Store for secondary replicas</a:t>
            </a:r>
          </a:p>
        </p:txBody>
      </p:sp>
      <p:graphicFrame>
        <p:nvGraphicFramePr>
          <p:cNvPr id="6" name="Table 5">
            <a:extLst>
              <a:ext uri="{FF2B5EF4-FFF2-40B4-BE49-F238E27FC236}">
                <a16:creationId xmlns:a16="http://schemas.microsoft.com/office/drawing/2014/main" id="{6DCB90DE-F623-C728-B0FA-C05877AC0940}"/>
              </a:ext>
            </a:extLst>
          </p:cNvPr>
          <p:cNvGraphicFramePr>
            <a:graphicFrameLocks noGrp="1"/>
          </p:cNvGraphicFramePr>
          <p:nvPr>
            <p:extLst>
              <p:ext uri="{D42A27DB-BD31-4B8C-83A1-F6EECF244321}">
                <p14:modId xmlns:p14="http://schemas.microsoft.com/office/powerpoint/2010/main" val="945216009"/>
              </p:ext>
            </p:extLst>
          </p:nvPr>
        </p:nvGraphicFramePr>
        <p:xfrm>
          <a:off x="261257" y="1151696"/>
          <a:ext cx="11741204" cy="5311398"/>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74037">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673266">
                <a:tc>
                  <a:txBody>
                    <a:bodyPr/>
                    <a:lstStyle/>
                    <a:p>
                      <a:r>
                        <a:rPr lang="en-US" sz="2400" dirty="0"/>
                        <a:t>Background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Historically, Query Store has only captured queries executed on the primary replica.</a:t>
                      </a:r>
                    </a:p>
                  </a:txBody>
                  <a:tcPr/>
                </a:tc>
                <a:extLst>
                  <a:ext uri="{0D108BD9-81ED-4DB2-BD59-A6C34878D82A}">
                    <a16:rowId xmlns:a16="http://schemas.microsoft.com/office/drawing/2014/main" val="717867348"/>
                  </a:ext>
                </a:extLst>
              </a:tr>
              <a:tr h="673266">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You have queries executing on readable secondary replicas, and you want to use Query Store to analyze execution plans and possibly force a plan.</a:t>
                      </a:r>
                    </a:p>
                  </a:txBody>
                  <a:tcPr/>
                </a:tc>
                <a:extLst>
                  <a:ext uri="{0D108BD9-81ED-4DB2-BD59-A6C34878D82A}">
                    <a16:rowId xmlns:a16="http://schemas.microsoft.com/office/drawing/2014/main" val="3797409749"/>
                  </a:ext>
                </a:extLst>
              </a:tr>
              <a:tr h="826899">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t>In SQL Server 2025 you can enable Query Store on readable secondary replicas.</a:t>
                      </a:r>
                    </a:p>
                  </a:txBody>
                  <a:tcPr/>
                </a:tc>
                <a:extLst>
                  <a:ext uri="{0D108BD9-81ED-4DB2-BD59-A6C34878D82A}">
                    <a16:rowId xmlns:a16="http://schemas.microsoft.com/office/drawing/2014/main" val="97859895"/>
                  </a:ext>
                </a:extLst>
              </a:tr>
              <a:tr h="826899">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ALTER DATABASE […] FOR SECONDARY SET QUERY_STORE = ON (OPERATION_MODE = READ_WRITE)</a:t>
                      </a:r>
                      <a:endParaRPr lang="en-US" sz="2400" b="0" dirty="0"/>
                    </a:p>
                  </a:txBody>
                  <a:tcPr/>
                </a:tc>
                <a:extLst>
                  <a:ext uri="{0D108BD9-81ED-4DB2-BD59-A6C34878D82A}">
                    <a16:rowId xmlns:a16="http://schemas.microsoft.com/office/drawing/2014/main" val="2603863327"/>
                  </a:ext>
                </a:extLst>
              </a:tr>
              <a:tr h="826899">
                <a:tc>
                  <a:txBody>
                    <a:bodyPr/>
                    <a:lstStyle/>
                    <a:p>
                      <a:r>
                        <a:rPr lang="en-US" sz="2400" dirty="0"/>
                        <a:t>How does it work?</a:t>
                      </a:r>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400" b="0" dirty="0"/>
                        <a:t>Query Store data from queries on the secondary replicas is sent to the primary replica, to be persisted there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400" b="0" dirty="0"/>
                        <a:t>The data is replicated to all secondary replicas, as a part of the normal availability group synchronization</a:t>
                      </a:r>
                    </a:p>
                  </a:txBody>
                  <a:tcPr/>
                </a:tc>
                <a:extLst>
                  <a:ext uri="{0D108BD9-81ED-4DB2-BD59-A6C34878D82A}">
                    <a16:rowId xmlns:a16="http://schemas.microsoft.com/office/drawing/2014/main" val="1770223993"/>
                  </a:ext>
                </a:extLst>
              </a:tr>
            </a:tbl>
          </a:graphicData>
        </a:graphic>
      </p:graphicFrame>
    </p:spTree>
    <p:extLst>
      <p:ext uri="{BB962C8B-B14F-4D97-AF65-F5344CB8AC3E}">
        <p14:creationId xmlns:p14="http://schemas.microsoft.com/office/powerpoint/2010/main" val="911933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F427C-94B3-1867-9456-AF2013C32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ED2DA-CF42-8952-8B58-59AB464D6380}"/>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Query Store for secondary replicas</a:t>
            </a:r>
          </a:p>
        </p:txBody>
      </p:sp>
      <p:graphicFrame>
        <p:nvGraphicFramePr>
          <p:cNvPr id="6" name="Table 5">
            <a:extLst>
              <a:ext uri="{FF2B5EF4-FFF2-40B4-BE49-F238E27FC236}">
                <a16:creationId xmlns:a16="http://schemas.microsoft.com/office/drawing/2014/main" id="{9162020C-27DE-4757-7711-881028A863B4}"/>
              </a:ext>
            </a:extLst>
          </p:cNvPr>
          <p:cNvGraphicFramePr>
            <a:graphicFrameLocks noGrp="1"/>
          </p:cNvGraphicFramePr>
          <p:nvPr>
            <p:extLst>
              <p:ext uri="{D42A27DB-BD31-4B8C-83A1-F6EECF244321}">
                <p14:modId xmlns:p14="http://schemas.microsoft.com/office/powerpoint/2010/main" val="756450269"/>
              </p:ext>
            </p:extLst>
          </p:nvPr>
        </p:nvGraphicFramePr>
        <p:xfrm>
          <a:off x="261257" y="1151696"/>
          <a:ext cx="11741204" cy="420624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74037">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673266">
                <a:tc>
                  <a:txBody>
                    <a:bodyPr/>
                    <a:lstStyle/>
                    <a:p>
                      <a:r>
                        <a:rPr lang="en-US" sz="2400" dirty="0"/>
                        <a:t>Watch out for!</a:t>
                      </a:r>
                    </a:p>
                  </a:txBody>
                  <a:tcPr/>
                </a:tc>
                <a:tc>
                  <a:txBody>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400" dirty="0"/>
                        <a:t>There is a delay in the sending of the data from the secondary to the primary replicas. The delay depends on the DATA_FLUSH_INTERVAL_SECONDS setting.</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400" dirty="0"/>
                        <a:t>Query Store data from the secondary replicas is stored in the same tables as the data from the primary replica – You may need to increase the size of Query Store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400" dirty="0"/>
                        <a:t>There can be some performance impact of Query Store on secondary replicas as the channel used by secondary replicas to send query information back to the primary replica is the same channel used to keep secondary replicas up to date.</a:t>
                      </a:r>
                    </a:p>
                  </a:txBody>
                  <a:tcPr/>
                </a:tc>
                <a:extLst>
                  <a:ext uri="{0D108BD9-81ED-4DB2-BD59-A6C34878D82A}">
                    <a16:rowId xmlns:a16="http://schemas.microsoft.com/office/drawing/2014/main" val="717867348"/>
                  </a:ext>
                </a:extLst>
              </a:tr>
            </a:tbl>
          </a:graphicData>
        </a:graphic>
      </p:graphicFrame>
    </p:spTree>
    <p:extLst>
      <p:ext uri="{BB962C8B-B14F-4D97-AF65-F5344CB8AC3E}">
        <p14:creationId xmlns:p14="http://schemas.microsoft.com/office/powerpoint/2010/main" val="1884931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E5FEC-3597-47E0-B666-853FD2680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3FC49-8B84-088F-2496-538086F09AAF}"/>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Security cache improvements</a:t>
            </a:r>
          </a:p>
        </p:txBody>
      </p:sp>
      <p:graphicFrame>
        <p:nvGraphicFramePr>
          <p:cNvPr id="6" name="Table 5">
            <a:extLst>
              <a:ext uri="{FF2B5EF4-FFF2-40B4-BE49-F238E27FC236}">
                <a16:creationId xmlns:a16="http://schemas.microsoft.com/office/drawing/2014/main" id="{8410A3E5-4980-78C8-4075-97E8426E5719}"/>
              </a:ext>
            </a:extLst>
          </p:cNvPr>
          <p:cNvGraphicFramePr>
            <a:graphicFrameLocks noGrp="1"/>
          </p:cNvGraphicFramePr>
          <p:nvPr>
            <p:extLst>
              <p:ext uri="{D42A27DB-BD31-4B8C-83A1-F6EECF244321}">
                <p14:modId xmlns:p14="http://schemas.microsoft.com/office/powerpoint/2010/main" val="3505762622"/>
              </p:ext>
            </p:extLst>
          </p:nvPr>
        </p:nvGraphicFramePr>
        <p:xfrm>
          <a:off x="261257" y="1151697"/>
          <a:ext cx="11741204" cy="530352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431010">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775819">
                <a:tc>
                  <a:txBody>
                    <a:bodyPr/>
                    <a:lstStyle/>
                    <a:p>
                      <a:r>
                        <a:rPr lang="en-US" sz="2400" dirty="0"/>
                        <a:t>Background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has a security cache that stores the permissions of a user or login for various securable objects at the database or server level</a:t>
                      </a:r>
                      <a:endParaRPr lang="en-US" sz="2400" b="0" dirty="0"/>
                    </a:p>
                  </a:txBody>
                  <a:tcPr/>
                </a:tc>
                <a:extLst>
                  <a:ext uri="{0D108BD9-81ED-4DB2-BD59-A6C34878D82A}">
                    <a16:rowId xmlns:a16="http://schemas.microsoft.com/office/drawing/2014/main" val="717867348"/>
                  </a:ext>
                </a:extLst>
              </a:tr>
              <a:tr h="1465435">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Various commands trigger security cache invalidations at the database or server level. When an invalidation occurs, all cache entries are cleared. This can impact performance and even cause deadlocks (for example, stored procedure executions can become victims).</a:t>
                      </a:r>
                    </a:p>
                  </a:txBody>
                  <a:tcPr/>
                </a:tc>
                <a:extLst>
                  <a:ext uri="{0D108BD9-81ED-4DB2-BD59-A6C34878D82A}">
                    <a16:rowId xmlns:a16="http://schemas.microsoft.com/office/drawing/2014/main" val="3797409749"/>
                  </a:ext>
                </a:extLst>
              </a:tr>
              <a:tr h="775819">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2025 has improved the logic for cache invalidations so that only the cache entries for a specific login or user are invalidated.</a:t>
                      </a:r>
                      <a:endParaRPr lang="en-US" sz="2400" b="0" dirty="0"/>
                    </a:p>
                  </a:txBody>
                  <a:tcPr/>
                </a:tc>
                <a:extLst>
                  <a:ext uri="{0D108BD9-81ED-4DB2-BD59-A6C34878D82A}">
                    <a16:rowId xmlns:a16="http://schemas.microsoft.com/office/drawing/2014/main" val="97859895"/>
                  </a:ext>
                </a:extLst>
              </a:tr>
              <a:tr h="1120627">
                <a:tc>
                  <a:txBody>
                    <a:bodyPr/>
                    <a:lstStyle/>
                    <a:p>
                      <a:r>
                        <a:rPr lang="en-US" sz="2400" dirty="0"/>
                        <a:t>Limitations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t>This feature applies to the CREATE, ALTER, and DROP LOGIN scenarios, as well as permission changes for individual logins.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dirty="0">
                          <a:solidFill>
                            <a:srgbClr val="C00000"/>
                          </a:solidFill>
                        </a:rPr>
                        <a:t>Group logins still experience server-level invalidation.</a:t>
                      </a:r>
                    </a:p>
                  </a:txBody>
                  <a:tcPr/>
                </a:tc>
                <a:extLst>
                  <a:ext uri="{0D108BD9-81ED-4DB2-BD59-A6C34878D82A}">
                    <a16:rowId xmlns:a16="http://schemas.microsoft.com/office/drawing/2014/main" val="1770223993"/>
                  </a:ext>
                </a:extLst>
              </a:tr>
              <a:tr h="431010">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Out of the box in SQL Server 2025 – All editions</a:t>
                      </a:r>
                    </a:p>
                  </a:txBody>
                  <a:tcPr/>
                </a:tc>
                <a:extLst>
                  <a:ext uri="{0D108BD9-81ED-4DB2-BD59-A6C34878D82A}">
                    <a16:rowId xmlns:a16="http://schemas.microsoft.com/office/drawing/2014/main" val="3103966748"/>
                  </a:ext>
                </a:extLst>
              </a:tr>
            </a:tbl>
          </a:graphicData>
        </a:graphic>
      </p:graphicFrame>
    </p:spTree>
    <p:extLst>
      <p:ext uri="{BB962C8B-B14F-4D97-AF65-F5344CB8AC3E}">
        <p14:creationId xmlns:p14="http://schemas.microsoft.com/office/powerpoint/2010/main" val="3905433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B89A1-8B4C-93A1-C8B6-0CE1344CF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FA2C1-3788-2A33-7B36-DCE39B1DE8E2}"/>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Backups on secondary replicas </a:t>
            </a:r>
          </a:p>
        </p:txBody>
      </p:sp>
      <p:graphicFrame>
        <p:nvGraphicFramePr>
          <p:cNvPr id="6" name="Table 5">
            <a:extLst>
              <a:ext uri="{FF2B5EF4-FFF2-40B4-BE49-F238E27FC236}">
                <a16:creationId xmlns:a16="http://schemas.microsoft.com/office/drawing/2014/main" id="{FA5A3B98-AC65-090C-32AA-3E7AE042DC99}"/>
              </a:ext>
            </a:extLst>
          </p:cNvPr>
          <p:cNvGraphicFramePr>
            <a:graphicFrameLocks noGrp="1"/>
          </p:cNvGraphicFramePr>
          <p:nvPr>
            <p:extLst>
              <p:ext uri="{D42A27DB-BD31-4B8C-83A1-F6EECF244321}">
                <p14:modId xmlns:p14="http://schemas.microsoft.com/office/powerpoint/2010/main" val="215015908"/>
              </p:ext>
            </p:extLst>
          </p:nvPr>
        </p:nvGraphicFramePr>
        <p:xfrm>
          <a:off x="261257" y="1151696"/>
          <a:ext cx="11741204" cy="5311398"/>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74037">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673266">
                <a:tc>
                  <a:txBody>
                    <a:bodyPr/>
                    <a:lstStyle/>
                    <a:p>
                      <a:r>
                        <a:rPr lang="en-US" sz="2400" dirty="0"/>
                        <a:t>Background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Backups on secondary replicas have been available since availability groups were introduced in SQL Server 2012. However, they were limited to copy-only full backups and non-copy-only transaction log backups.</a:t>
                      </a:r>
                    </a:p>
                  </a:txBody>
                  <a:tcPr/>
                </a:tc>
                <a:extLst>
                  <a:ext uri="{0D108BD9-81ED-4DB2-BD59-A6C34878D82A}">
                    <a16:rowId xmlns:a16="http://schemas.microsoft.com/office/drawing/2014/main" val="717867348"/>
                  </a:ext>
                </a:extLst>
              </a:tr>
              <a:tr h="673266">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Backups place load on the CPU and storage of your database servers, which can affect the performance of your application workloads.</a:t>
                      </a:r>
                    </a:p>
                  </a:txBody>
                  <a:tcPr/>
                </a:tc>
                <a:extLst>
                  <a:ext uri="{0D108BD9-81ED-4DB2-BD59-A6C34878D82A}">
                    <a16:rowId xmlns:a16="http://schemas.microsoft.com/office/drawing/2014/main" val="3797409749"/>
                  </a:ext>
                </a:extLst>
              </a:tr>
              <a:tr h="826899">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2025 supports non-copy-only full and differential backups on secondary replicas.</a:t>
                      </a:r>
                      <a:endParaRPr lang="en-US" sz="2400" b="0" dirty="0"/>
                    </a:p>
                  </a:txBody>
                  <a:tcPr/>
                </a:tc>
                <a:extLst>
                  <a:ext uri="{0D108BD9-81ED-4DB2-BD59-A6C34878D82A}">
                    <a16:rowId xmlns:a16="http://schemas.microsoft.com/office/drawing/2014/main" val="97859895"/>
                  </a:ext>
                </a:extLst>
              </a:tr>
              <a:tr h="826899">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b="0" dirty="0"/>
                        <a:t>ALTER AVAILABILITY GROUP … SET (ALLOW_SECONDARY_FULL_BACKUP = ON)</a:t>
                      </a:r>
                    </a:p>
                  </a:txBody>
                  <a:tcPr/>
                </a:tc>
                <a:extLst>
                  <a:ext uri="{0D108BD9-81ED-4DB2-BD59-A6C34878D82A}">
                    <a16:rowId xmlns:a16="http://schemas.microsoft.com/office/drawing/2014/main" val="1770223993"/>
                  </a:ext>
                </a:extLst>
              </a:tr>
              <a:tr h="826899">
                <a:tc>
                  <a:txBody>
                    <a:bodyPr/>
                    <a:lstStyle/>
                    <a:p>
                      <a:r>
                        <a:rPr lang="en-US" sz="2400" dirty="0"/>
                        <a:t>How to use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dirty="0">
                          <a:hlinkClick r:id="rId2"/>
                        </a:rPr>
                        <a:t>sys.fn_hadr_backup_is_preferred_replica</a:t>
                      </a:r>
                      <a:r>
                        <a:rPr lang="en-US" sz="2400" dirty="0"/>
                        <a:t> returns the preferred backup replica and is used by the built-in Maintenance Plans and Ola Hallengren’s </a:t>
                      </a:r>
                      <a:r>
                        <a:rPr lang="en-US" sz="2400" dirty="0">
                          <a:hlinkClick r:id="rId3"/>
                        </a:rPr>
                        <a:t>SQL Server Maintenance Solution</a:t>
                      </a:r>
                      <a:r>
                        <a:rPr lang="en-US" sz="2400" dirty="0"/>
                        <a:t>.</a:t>
                      </a:r>
                      <a:endParaRPr lang="en-US" sz="2400" b="0" dirty="0"/>
                    </a:p>
                  </a:txBody>
                  <a:tcPr/>
                </a:tc>
                <a:extLst>
                  <a:ext uri="{0D108BD9-81ED-4DB2-BD59-A6C34878D82A}">
                    <a16:rowId xmlns:a16="http://schemas.microsoft.com/office/drawing/2014/main" val="565851231"/>
                  </a:ext>
                </a:extLst>
              </a:tr>
            </a:tbl>
          </a:graphicData>
        </a:graphic>
      </p:graphicFrame>
    </p:spTree>
    <p:extLst>
      <p:ext uri="{BB962C8B-B14F-4D97-AF65-F5344CB8AC3E}">
        <p14:creationId xmlns:p14="http://schemas.microsoft.com/office/powerpoint/2010/main" val="2709599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2445-D24B-1C4F-8AC6-1BB5491B4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6204D-4CD1-BFE8-A75E-22E58973354D}"/>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Backups on secondary replicas</a:t>
            </a:r>
          </a:p>
        </p:txBody>
      </p:sp>
      <p:graphicFrame>
        <p:nvGraphicFramePr>
          <p:cNvPr id="6" name="Table 5">
            <a:extLst>
              <a:ext uri="{FF2B5EF4-FFF2-40B4-BE49-F238E27FC236}">
                <a16:creationId xmlns:a16="http://schemas.microsoft.com/office/drawing/2014/main" id="{EBF4AF3E-A42E-3C47-BEFF-C4583CE7D19D}"/>
              </a:ext>
            </a:extLst>
          </p:cNvPr>
          <p:cNvGraphicFramePr>
            <a:graphicFrameLocks noGrp="1"/>
          </p:cNvGraphicFramePr>
          <p:nvPr>
            <p:extLst>
              <p:ext uri="{D42A27DB-BD31-4B8C-83A1-F6EECF244321}">
                <p14:modId xmlns:p14="http://schemas.microsoft.com/office/powerpoint/2010/main" val="1414402872"/>
              </p:ext>
            </p:extLst>
          </p:nvPr>
        </p:nvGraphicFramePr>
        <p:xfrm>
          <a:off x="261257" y="1151696"/>
          <a:ext cx="11741204" cy="493776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74037">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673266">
                <a:tc>
                  <a:txBody>
                    <a:bodyPr/>
                    <a:lstStyle/>
                    <a:p>
                      <a:r>
                        <a:rPr lang="en-US" sz="2400" dirty="0"/>
                        <a:t>Watch out for!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dirty="0"/>
                        <a:t>If the secondary replica is connected but not in a synchronized state, you may get an error like this:</a:t>
                      </a:r>
                      <a:br>
                        <a:rPr lang="en-US" sz="2400" dirty="0"/>
                      </a:br>
                      <a:br>
                        <a:rPr lang="en-US" sz="2400" dirty="0"/>
                      </a:br>
                      <a:r>
                        <a:rPr lang="en-US" sz="2400" dirty="0"/>
                        <a:t>Msg 35295, Level 16, State 1, Line 1  </a:t>
                      </a:r>
                      <a:br>
                        <a:rPr lang="en-US" sz="2400" dirty="0"/>
                      </a:br>
                      <a:r>
                        <a:rPr lang="en-US" sz="2400" dirty="0"/>
                        <a:t>Log backup for database "Test" on a secondary replica failed because the last backup LSN (0x000000E7:000359F0:0001) from the primary database is greater than the current local redo LSN (0x000000D9:0003DD38:00BF). No log records need to be backed up at this time. Retry the log-backup operation later.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4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dirty="0"/>
                        <a:t>This can happen when a secondary replica comes back online after being unavailable and is still syncing with the primary.</a:t>
                      </a:r>
                    </a:p>
                  </a:txBody>
                  <a:tcPr/>
                </a:tc>
                <a:extLst>
                  <a:ext uri="{0D108BD9-81ED-4DB2-BD59-A6C34878D82A}">
                    <a16:rowId xmlns:a16="http://schemas.microsoft.com/office/drawing/2014/main" val="717867348"/>
                  </a:ext>
                </a:extLst>
              </a:tr>
            </a:tbl>
          </a:graphicData>
        </a:graphic>
      </p:graphicFrame>
    </p:spTree>
    <p:extLst>
      <p:ext uri="{BB962C8B-B14F-4D97-AF65-F5344CB8AC3E}">
        <p14:creationId xmlns:p14="http://schemas.microsoft.com/office/powerpoint/2010/main" val="1040017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8E0D-6D13-3D3E-0306-53D10D672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23FD5-4124-26A5-3492-2B4831203CDF}"/>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ZSTD backup compression algorithm</a:t>
            </a:r>
          </a:p>
        </p:txBody>
      </p:sp>
      <p:graphicFrame>
        <p:nvGraphicFramePr>
          <p:cNvPr id="6" name="Table 5">
            <a:extLst>
              <a:ext uri="{FF2B5EF4-FFF2-40B4-BE49-F238E27FC236}">
                <a16:creationId xmlns:a16="http://schemas.microsoft.com/office/drawing/2014/main" id="{8961528E-6753-11D0-10E3-5D849C836CF9}"/>
              </a:ext>
            </a:extLst>
          </p:cNvPr>
          <p:cNvGraphicFramePr>
            <a:graphicFrameLocks noGrp="1"/>
          </p:cNvGraphicFramePr>
          <p:nvPr>
            <p:extLst>
              <p:ext uri="{D42A27DB-BD31-4B8C-83A1-F6EECF244321}">
                <p14:modId xmlns:p14="http://schemas.microsoft.com/office/powerpoint/2010/main" val="2448121733"/>
              </p:ext>
            </p:extLst>
          </p:nvPr>
        </p:nvGraphicFramePr>
        <p:xfrm>
          <a:off x="261257" y="1151696"/>
          <a:ext cx="11741204" cy="4945638"/>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74037">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673266">
                <a:tc>
                  <a:txBody>
                    <a:bodyPr/>
                    <a:lstStyle/>
                    <a:p>
                      <a:r>
                        <a:rPr lang="en-US" sz="2400" dirty="0"/>
                        <a:t>Background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t>SQL Server has used the MS_XPRESS algorithm for backup compression since the feature was introduced in SQL Server 2008.</a:t>
                      </a:r>
                    </a:p>
                  </a:txBody>
                  <a:tcPr/>
                </a:tc>
                <a:extLst>
                  <a:ext uri="{0D108BD9-81ED-4DB2-BD59-A6C34878D82A}">
                    <a16:rowId xmlns:a16="http://schemas.microsoft.com/office/drawing/2014/main" val="717867348"/>
                  </a:ext>
                </a:extLst>
              </a:tr>
              <a:tr h="673266">
                <a:tc>
                  <a:txBody>
                    <a:bodyPr/>
                    <a:lstStyle/>
                    <a:p>
                      <a:r>
                        <a:rPr lang="en-US" sz="2400" dirty="0"/>
                        <a:t>Problem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Backups place load on the CPU and storage of your database servers, which can affect the performance of your application workloads.</a:t>
                      </a:r>
                    </a:p>
                  </a:txBody>
                  <a:tcPr/>
                </a:tc>
                <a:extLst>
                  <a:ext uri="{0D108BD9-81ED-4DB2-BD59-A6C34878D82A}">
                    <a16:rowId xmlns:a16="http://schemas.microsoft.com/office/drawing/2014/main" val="3797409749"/>
                  </a:ext>
                </a:extLst>
              </a:tr>
              <a:tr h="826899">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t>SQL Server 2025 introduces a new, more efficient algorithm for backup compression: </a:t>
                      </a:r>
                      <a:r>
                        <a:rPr lang="en-US" sz="2400" b="0" dirty="0" err="1"/>
                        <a:t>Zstandard</a:t>
                      </a:r>
                      <a:r>
                        <a:rPr lang="en-US" sz="2400" b="0" dirty="0"/>
                        <a:t> (ZSTD).</a:t>
                      </a:r>
                    </a:p>
                  </a:txBody>
                  <a:tcPr/>
                </a:tc>
                <a:extLst>
                  <a:ext uri="{0D108BD9-81ED-4DB2-BD59-A6C34878D82A}">
                    <a16:rowId xmlns:a16="http://schemas.microsoft.com/office/drawing/2014/main" val="97859895"/>
                  </a:ext>
                </a:extLst>
              </a:tr>
              <a:tr h="826899">
                <a:tc>
                  <a:txBody>
                    <a:bodyPr/>
                    <a:lstStyle/>
                    <a:p>
                      <a:r>
                        <a:rPr lang="en-US" sz="2400" dirty="0"/>
                        <a:t>Benefits</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Improved Compression Ratios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Faster Decompression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Flexible Compression Levels: Low, Medium, High</a:t>
                      </a:r>
                    </a:p>
                  </a:txBody>
                  <a:tcPr/>
                </a:tc>
                <a:extLst>
                  <a:ext uri="{0D108BD9-81ED-4DB2-BD59-A6C34878D82A}">
                    <a16:rowId xmlns:a16="http://schemas.microsoft.com/office/drawing/2014/main" val="1770223993"/>
                  </a:ext>
                </a:extLst>
              </a:tr>
              <a:tr h="826899">
                <a:tc>
                  <a:txBody>
                    <a:bodyPr/>
                    <a:lstStyle/>
                    <a:p>
                      <a:r>
                        <a:rPr lang="en-US" sz="2400" dirty="0"/>
                        <a:t>The backup command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b="0" dirty="0"/>
                        <a:t>BACKUP DATABASE … TO DISK = … WITH COMPRESSION (ALGORITHM = ZSTD, LEVEL = LOW)</a:t>
                      </a:r>
                    </a:p>
                  </a:txBody>
                  <a:tcPr/>
                </a:tc>
                <a:extLst>
                  <a:ext uri="{0D108BD9-81ED-4DB2-BD59-A6C34878D82A}">
                    <a16:rowId xmlns:a16="http://schemas.microsoft.com/office/drawing/2014/main" val="1570911396"/>
                  </a:ext>
                </a:extLst>
              </a:tr>
            </a:tbl>
          </a:graphicData>
        </a:graphic>
      </p:graphicFrame>
    </p:spTree>
    <p:extLst>
      <p:ext uri="{BB962C8B-B14F-4D97-AF65-F5344CB8AC3E}">
        <p14:creationId xmlns:p14="http://schemas.microsoft.com/office/powerpoint/2010/main" val="2220115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A189A-1BE3-23A2-7436-705160D4D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ABAB7-02E3-8DD4-9FEF-6EE85AA1DA82}"/>
              </a:ext>
            </a:extLst>
          </p:cNvPr>
          <p:cNvSpPr>
            <a:spLocks noGrp="1"/>
          </p:cNvSpPr>
          <p:nvPr>
            <p:ph type="title"/>
          </p:nvPr>
        </p:nvSpPr>
        <p:spPr>
          <a:xfrm>
            <a:off x="609600" y="91758"/>
            <a:ext cx="11010939" cy="1143000"/>
          </a:xfrm>
        </p:spPr>
        <p:txBody>
          <a:bodyPr>
            <a:normAutofit/>
          </a:bodyPr>
          <a:lstStyle/>
          <a:p>
            <a:r>
              <a:rPr lang="en-US" dirty="0">
                <a:solidFill>
                  <a:schemeClr val="tx2"/>
                </a:solidFill>
              </a:rPr>
              <a:t>ZSTD backup compression algorithm</a:t>
            </a:r>
          </a:p>
        </p:txBody>
      </p:sp>
      <p:graphicFrame>
        <p:nvGraphicFramePr>
          <p:cNvPr id="6" name="Table 5">
            <a:extLst>
              <a:ext uri="{FF2B5EF4-FFF2-40B4-BE49-F238E27FC236}">
                <a16:creationId xmlns:a16="http://schemas.microsoft.com/office/drawing/2014/main" id="{6B587189-8A3E-5C4D-32BD-5B818D5FDD15}"/>
              </a:ext>
            </a:extLst>
          </p:cNvPr>
          <p:cNvGraphicFramePr>
            <a:graphicFrameLocks noGrp="1"/>
          </p:cNvGraphicFramePr>
          <p:nvPr>
            <p:extLst>
              <p:ext uri="{D42A27DB-BD31-4B8C-83A1-F6EECF244321}">
                <p14:modId xmlns:p14="http://schemas.microsoft.com/office/powerpoint/2010/main" val="3726707775"/>
              </p:ext>
            </p:extLst>
          </p:nvPr>
        </p:nvGraphicFramePr>
        <p:xfrm>
          <a:off x="261257" y="1151696"/>
          <a:ext cx="11741204" cy="2011680"/>
        </p:xfrm>
        <a:graphic>
          <a:graphicData uri="http://schemas.openxmlformats.org/drawingml/2006/table">
            <a:tbl>
              <a:tblPr firstRow="1" bandRow="1">
                <a:tableStyleId>{72833802-FEF1-4C79-8D5D-14CF1EAF98D9}</a:tableStyleId>
              </a:tblPr>
              <a:tblGrid>
                <a:gridCol w="2275245">
                  <a:extLst>
                    <a:ext uri="{9D8B030D-6E8A-4147-A177-3AD203B41FA5}">
                      <a16:colId xmlns:a16="http://schemas.microsoft.com/office/drawing/2014/main" val="889373758"/>
                    </a:ext>
                  </a:extLst>
                </a:gridCol>
                <a:gridCol w="9465959">
                  <a:extLst>
                    <a:ext uri="{9D8B030D-6E8A-4147-A177-3AD203B41FA5}">
                      <a16:colId xmlns:a16="http://schemas.microsoft.com/office/drawing/2014/main" val="2172995239"/>
                    </a:ext>
                  </a:extLst>
                </a:gridCol>
              </a:tblGrid>
              <a:tr h="374037">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673266">
                <a:tc>
                  <a:txBody>
                    <a:bodyPr/>
                    <a:lstStyle/>
                    <a:p>
                      <a:r>
                        <a:rPr lang="en-US" sz="2400" dirty="0"/>
                        <a:t>Changing the default backup compression algorithm</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b="0" dirty="0"/>
                        <a:t>EXECUTE </a:t>
                      </a:r>
                      <a:r>
                        <a:rPr lang="en-US" sz="2400" b="0" dirty="0" err="1"/>
                        <a:t>sp_configure</a:t>
                      </a:r>
                      <a:r>
                        <a:rPr lang="en-US" sz="2400" b="0" dirty="0"/>
                        <a:t> 'backup compression algorithm', 3</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400" b="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400" b="0" dirty="0"/>
                        <a:t>RECONFIGURE</a:t>
                      </a:r>
                    </a:p>
                  </a:txBody>
                  <a:tcPr/>
                </a:tc>
                <a:extLst>
                  <a:ext uri="{0D108BD9-81ED-4DB2-BD59-A6C34878D82A}">
                    <a16:rowId xmlns:a16="http://schemas.microsoft.com/office/drawing/2014/main" val="1744468611"/>
                  </a:ext>
                </a:extLst>
              </a:tr>
            </a:tbl>
          </a:graphicData>
        </a:graphic>
      </p:graphicFrame>
    </p:spTree>
    <p:extLst>
      <p:ext uri="{BB962C8B-B14F-4D97-AF65-F5344CB8AC3E}">
        <p14:creationId xmlns:p14="http://schemas.microsoft.com/office/powerpoint/2010/main" val="1648530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8FA0A-CCBC-0756-4F75-DDE0B46574B8}"/>
              </a:ext>
            </a:extLst>
          </p:cNvPr>
          <p:cNvSpPr>
            <a:spLocks noGrp="1"/>
          </p:cNvSpPr>
          <p:nvPr>
            <p:ph type="title"/>
          </p:nvPr>
        </p:nvSpPr>
        <p:spPr>
          <a:xfrm>
            <a:off x="571180" y="-36718"/>
            <a:ext cx="11010939" cy="1143000"/>
          </a:xfrm>
        </p:spPr>
        <p:txBody>
          <a:bodyPr>
            <a:normAutofit/>
          </a:bodyPr>
          <a:lstStyle/>
          <a:p>
            <a:r>
              <a:rPr lang="en-US" dirty="0">
                <a:solidFill>
                  <a:schemeClr val="tx2"/>
                </a:solidFill>
              </a:rPr>
              <a:t>Accelerated database recovery in </a:t>
            </a:r>
            <a:r>
              <a:rPr lang="en-US" dirty="0" err="1">
                <a:solidFill>
                  <a:schemeClr val="tx2"/>
                </a:solidFill>
              </a:rPr>
              <a:t>tempdb</a:t>
            </a:r>
            <a:endParaRPr lang="en-US" dirty="0">
              <a:solidFill>
                <a:schemeClr val="tx2"/>
              </a:solidFill>
            </a:endParaRPr>
          </a:p>
        </p:txBody>
      </p:sp>
      <p:graphicFrame>
        <p:nvGraphicFramePr>
          <p:cNvPr id="6" name="Table 5">
            <a:extLst>
              <a:ext uri="{FF2B5EF4-FFF2-40B4-BE49-F238E27FC236}">
                <a16:creationId xmlns:a16="http://schemas.microsoft.com/office/drawing/2014/main" id="{3897362C-4F4D-82CA-0D59-6975967B43FB}"/>
              </a:ext>
            </a:extLst>
          </p:cNvPr>
          <p:cNvGraphicFramePr>
            <a:graphicFrameLocks noGrp="1"/>
          </p:cNvGraphicFramePr>
          <p:nvPr>
            <p:extLst>
              <p:ext uri="{D42A27DB-BD31-4B8C-83A1-F6EECF244321}">
                <p14:modId xmlns:p14="http://schemas.microsoft.com/office/powerpoint/2010/main" val="561054783"/>
              </p:ext>
            </p:extLst>
          </p:nvPr>
        </p:nvGraphicFramePr>
        <p:xfrm>
          <a:off x="137160" y="1002395"/>
          <a:ext cx="11932920" cy="5627005"/>
        </p:xfrm>
        <a:graphic>
          <a:graphicData uri="http://schemas.openxmlformats.org/drawingml/2006/table">
            <a:tbl>
              <a:tblPr firstRow="1" bandRow="1">
                <a:tableStyleId>{72833802-FEF1-4C79-8D5D-14CF1EAF98D9}</a:tableStyleId>
              </a:tblPr>
              <a:tblGrid>
                <a:gridCol w="2368296">
                  <a:extLst>
                    <a:ext uri="{9D8B030D-6E8A-4147-A177-3AD203B41FA5}">
                      <a16:colId xmlns:a16="http://schemas.microsoft.com/office/drawing/2014/main" val="889373758"/>
                    </a:ext>
                  </a:extLst>
                </a:gridCol>
                <a:gridCol w="9564624">
                  <a:extLst>
                    <a:ext uri="{9D8B030D-6E8A-4147-A177-3AD203B41FA5}">
                      <a16:colId xmlns:a16="http://schemas.microsoft.com/office/drawing/2014/main" val="2172995239"/>
                    </a:ext>
                  </a:extLst>
                </a:gridCol>
              </a:tblGrid>
              <a:tr h="346454">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1472428">
                <a:tc>
                  <a:txBody>
                    <a:bodyPr/>
                    <a:lstStyle/>
                    <a:p>
                      <a:r>
                        <a:rPr lang="en-US" sz="2400" dirty="0"/>
                        <a:t>Problem</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Database recovery can in some cases take a very long time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Rollback of transactions can in some cases take a very long time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The transaction log can grow </a:t>
                      </a:r>
                      <a:r>
                        <a:rPr lang="en-US" sz="2400"/>
                        <a:t>very large </a:t>
                      </a:r>
                      <a:r>
                        <a:rPr lang="en-US" sz="2400" dirty="0"/>
                        <a:t>when there are long-running transactions</a:t>
                      </a:r>
                    </a:p>
                  </a:txBody>
                  <a:tcPr/>
                </a:tc>
                <a:extLst>
                  <a:ext uri="{0D108BD9-81ED-4DB2-BD59-A6C34878D82A}">
                    <a16:rowId xmlns:a16="http://schemas.microsoft.com/office/drawing/2014/main" val="3797409749"/>
                  </a:ext>
                </a:extLst>
              </a:tr>
              <a:tr h="1603645">
                <a:tc>
                  <a:txBody>
                    <a:bodyPr/>
                    <a:lstStyle/>
                    <a:p>
                      <a:r>
                        <a:rPr lang="en-US" sz="2400" dirty="0"/>
                        <a:t>Solution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2019 introduced a Persistent Version Store (PVS) that provides:</a:t>
                      </a:r>
                    </a:p>
                    <a:p>
                      <a:pPr marL="342900" indent="-342900">
                        <a:buFont typeface="Arial" panose="020B0604020202020204" pitchFamily="34" charset="0"/>
                        <a:buChar char="•"/>
                      </a:pPr>
                      <a:r>
                        <a:rPr lang="en-US" sz="2400" dirty="0"/>
                        <a:t>Fast and consistent database recovery</a:t>
                      </a:r>
                    </a:p>
                    <a:p>
                      <a:pPr marL="342900" indent="-342900">
                        <a:buFont typeface="Arial" panose="020B0604020202020204" pitchFamily="34" charset="0"/>
                        <a:buChar char="•"/>
                      </a:pPr>
                      <a:r>
                        <a:rPr lang="en-US" sz="2400" dirty="0"/>
                        <a:t>Instantaneous transaction rollback</a:t>
                      </a:r>
                    </a:p>
                    <a:p>
                      <a:pPr marL="342900" indent="-342900">
                        <a:buFont typeface="Arial" panose="020B0604020202020204" pitchFamily="34" charset="0"/>
                        <a:buChar char="•"/>
                      </a:pPr>
                      <a:r>
                        <a:rPr lang="en-US" sz="2400" dirty="0"/>
                        <a:t>Aggressive log truncation</a:t>
                      </a:r>
                    </a:p>
                  </a:txBody>
                  <a:tcPr/>
                </a:tc>
                <a:extLst>
                  <a:ext uri="{0D108BD9-81ED-4DB2-BD59-A6C34878D82A}">
                    <a16:rowId xmlns:a16="http://schemas.microsoft.com/office/drawing/2014/main" val="97859895"/>
                  </a:ext>
                </a:extLst>
              </a:tr>
              <a:tr h="441397">
                <a:tc>
                  <a:txBody>
                    <a:bodyPr/>
                    <a:lstStyle/>
                    <a:p>
                      <a:r>
                        <a:rPr lang="en-US" sz="2400" dirty="0"/>
                        <a:t>Further improvements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SQL Server 2022 has several optimizations. </a:t>
                      </a:r>
                      <a:r>
                        <a:rPr lang="en-US" sz="2400" b="1" dirty="0"/>
                        <a:t>SQL Server 2025 adds support for Accelerated Database Recovery in </a:t>
                      </a:r>
                      <a:r>
                        <a:rPr lang="en-US" sz="2400" b="1" dirty="0" err="1"/>
                        <a:t>tempdb</a:t>
                      </a:r>
                      <a:r>
                        <a:rPr lang="en-US" sz="2400" b="1" dirty="0"/>
                        <a:t>.</a:t>
                      </a:r>
                    </a:p>
                  </a:txBody>
                  <a:tcPr/>
                </a:tc>
                <a:extLst>
                  <a:ext uri="{0D108BD9-81ED-4DB2-BD59-A6C34878D82A}">
                    <a16:rowId xmlns:a16="http://schemas.microsoft.com/office/drawing/2014/main" val="3546977525"/>
                  </a:ext>
                </a:extLst>
              </a:tr>
              <a:tr h="441397">
                <a:tc>
                  <a:txBody>
                    <a:bodyPr/>
                    <a:lstStyle/>
                    <a:p>
                      <a:r>
                        <a:rPr lang="en-US" sz="2400" dirty="0"/>
                        <a:t>How to get 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ALTER DATABASE [DB] SET ACCELERATED_DATABASE_RECOVERY = 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On Azure SQL Database and Azure SQL Managed Instance it is enabled by default and can’t be disabled</a:t>
                      </a:r>
                    </a:p>
                  </a:txBody>
                  <a:tcPr/>
                </a:tc>
                <a:extLst>
                  <a:ext uri="{0D108BD9-81ED-4DB2-BD59-A6C34878D82A}">
                    <a16:rowId xmlns:a16="http://schemas.microsoft.com/office/drawing/2014/main" val="2871769326"/>
                  </a:ext>
                </a:extLst>
              </a:tr>
            </a:tbl>
          </a:graphicData>
        </a:graphic>
      </p:graphicFrame>
    </p:spTree>
    <p:extLst>
      <p:ext uri="{BB962C8B-B14F-4D97-AF65-F5344CB8AC3E}">
        <p14:creationId xmlns:p14="http://schemas.microsoft.com/office/powerpoint/2010/main" val="2162401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8FA0A-CCBC-0756-4F75-DDE0B46574B8}"/>
              </a:ext>
            </a:extLst>
          </p:cNvPr>
          <p:cNvSpPr>
            <a:spLocks noGrp="1"/>
          </p:cNvSpPr>
          <p:nvPr>
            <p:ph type="title"/>
          </p:nvPr>
        </p:nvSpPr>
        <p:spPr>
          <a:xfrm>
            <a:off x="571180" y="36434"/>
            <a:ext cx="11010939" cy="1143000"/>
          </a:xfrm>
        </p:spPr>
        <p:txBody>
          <a:bodyPr>
            <a:normAutofit/>
          </a:bodyPr>
          <a:lstStyle/>
          <a:p>
            <a:r>
              <a:rPr lang="en-US" dirty="0">
                <a:solidFill>
                  <a:schemeClr val="tx2"/>
                </a:solidFill>
              </a:rPr>
              <a:t>Accelerated database recovery in </a:t>
            </a:r>
            <a:r>
              <a:rPr lang="en-US" dirty="0" err="1">
                <a:solidFill>
                  <a:schemeClr val="tx2"/>
                </a:solidFill>
              </a:rPr>
              <a:t>tempdb</a:t>
            </a:r>
            <a:endParaRPr lang="en-US" dirty="0">
              <a:solidFill>
                <a:schemeClr val="tx2"/>
              </a:solidFill>
            </a:endParaRPr>
          </a:p>
        </p:txBody>
      </p:sp>
      <p:graphicFrame>
        <p:nvGraphicFramePr>
          <p:cNvPr id="6" name="Table 5">
            <a:extLst>
              <a:ext uri="{FF2B5EF4-FFF2-40B4-BE49-F238E27FC236}">
                <a16:creationId xmlns:a16="http://schemas.microsoft.com/office/drawing/2014/main" id="{3897362C-4F4D-82CA-0D59-6975967B43FB}"/>
              </a:ext>
            </a:extLst>
          </p:cNvPr>
          <p:cNvGraphicFramePr>
            <a:graphicFrameLocks noGrp="1"/>
          </p:cNvGraphicFramePr>
          <p:nvPr>
            <p:extLst>
              <p:ext uri="{D42A27DB-BD31-4B8C-83A1-F6EECF244321}">
                <p14:modId xmlns:p14="http://schemas.microsoft.com/office/powerpoint/2010/main" val="627096581"/>
              </p:ext>
            </p:extLst>
          </p:nvPr>
        </p:nvGraphicFramePr>
        <p:xfrm>
          <a:off x="286871" y="1171752"/>
          <a:ext cx="11618258" cy="1645920"/>
        </p:xfrm>
        <a:graphic>
          <a:graphicData uri="http://schemas.openxmlformats.org/drawingml/2006/table">
            <a:tbl>
              <a:tblPr firstRow="1" bandRow="1">
                <a:tableStyleId>{72833802-FEF1-4C79-8D5D-14CF1EAF98D9}</a:tableStyleId>
              </a:tblPr>
              <a:tblGrid>
                <a:gridCol w="2574150">
                  <a:extLst>
                    <a:ext uri="{9D8B030D-6E8A-4147-A177-3AD203B41FA5}">
                      <a16:colId xmlns:a16="http://schemas.microsoft.com/office/drawing/2014/main" val="889373758"/>
                    </a:ext>
                  </a:extLst>
                </a:gridCol>
                <a:gridCol w="9044108">
                  <a:extLst>
                    <a:ext uri="{9D8B030D-6E8A-4147-A177-3AD203B41FA5}">
                      <a16:colId xmlns:a16="http://schemas.microsoft.com/office/drawing/2014/main" val="2172995239"/>
                    </a:ext>
                  </a:extLst>
                </a:gridCol>
              </a:tblGrid>
              <a:tr h="428403">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119613591"/>
                  </a:ext>
                </a:extLst>
              </a:tr>
              <a:tr h="905177">
                <a:tc>
                  <a:txBody>
                    <a:bodyPr/>
                    <a:lstStyle/>
                    <a:p>
                      <a:r>
                        <a:rPr lang="en-US" sz="2400" dirty="0"/>
                        <a:t>Troubleshooting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You can monitor the size of the Persistent Version Store (PVS) using </a:t>
                      </a:r>
                      <a:r>
                        <a:rPr lang="en-US" sz="2400" dirty="0" err="1"/>
                        <a:t>persistent_version_store_size_kb</a:t>
                      </a:r>
                      <a:r>
                        <a:rPr lang="en-US" sz="2400" dirty="0"/>
                        <a:t> in  </a:t>
                      </a:r>
                      <a:r>
                        <a:rPr lang="en-US" sz="2400" dirty="0">
                          <a:hlinkClick r:id="rId2"/>
                        </a:rPr>
                        <a:t>sys.dm_tran_persistent_version_store_stats</a:t>
                      </a:r>
                      <a:endParaRPr lang="en-US" sz="2400" dirty="0"/>
                    </a:p>
                  </a:txBody>
                  <a:tcPr/>
                </a:tc>
                <a:extLst>
                  <a:ext uri="{0D108BD9-81ED-4DB2-BD59-A6C34878D82A}">
                    <a16:rowId xmlns:a16="http://schemas.microsoft.com/office/drawing/2014/main" val="97859895"/>
                  </a:ext>
                </a:extLst>
              </a:tr>
            </a:tbl>
          </a:graphicData>
        </a:graphic>
      </p:graphicFrame>
    </p:spTree>
    <p:extLst>
      <p:ext uri="{BB962C8B-B14F-4D97-AF65-F5344CB8AC3E}">
        <p14:creationId xmlns:p14="http://schemas.microsoft.com/office/powerpoint/2010/main" val="3035445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40CC4-9564-D99C-BDA6-CFE0C479B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BC94E-9302-626E-5A42-1C28514350B4}"/>
              </a:ext>
            </a:extLst>
          </p:cNvPr>
          <p:cNvSpPr>
            <a:spLocks noGrp="1"/>
          </p:cNvSpPr>
          <p:nvPr>
            <p:ph type="title"/>
          </p:nvPr>
        </p:nvSpPr>
        <p:spPr>
          <a:xfrm>
            <a:off x="4352544" y="2606278"/>
            <a:ext cx="3285744" cy="772847"/>
          </a:xfrm>
        </p:spPr>
        <p:txBody>
          <a:bodyPr/>
          <a:lstStyle/>
          <a:p>
            <a:pPr algn="ctr"/>
            <a:r>
              <a:rPr lang="en-US" sz="3800" dirty="0">
                <a:solidFill>
                  <a:schemeClr val="tx2"/>
                </a:solidFill>
              </a:rPr>
              <a:t>Thank you!</a:t>
            </a:r>
            <a:endParaRPr lang="en-US" sz="3800" b="0" dirty="0">
              <a:solidFill>
                <a:schemeClr val="tx2"/>
              </a:solidFill>
              <a:latin typeface="IBM Plex Sans Text" panose="020B0503050203000203" pitchFamily="34" charset="77"/>
            </a:endParaRPr>
          </a:p>
        </p:txBody>
      </p:sp>
      <p:sp>
        <p:nvSpPr>
          <p:cNvPr id="17" name="Content Placeholder 19">
            <a:extLst>
              <a:ext uri="{FF2B5EF4-FFF2-40B4-BE49-F238E27FC236}">
                <a16:creationId xmlns:a16="http://schemas.microsoft.com/office/drawing/2014/main" id="{FB34E371-300D-5121-87F8-5246BB6C2B55}"/>
              </a:ext>
            </a:extLst>
          </p:cNvPr>
          <p:cNvSpPr>
            <a:spLocks noGrp="1"/>
          </p:cNvSpPr>
          <p:nvPr>
            <p:ph idx="11"/>
          </p:nvPr>
        </p:nvSpPr>
        <p:spPr>
          <a:xfrm>
            <a:off x="424542" y="4725483"/>
            <a:ext cx="6116493" cy="553208"/>
          </a:xfrm>
        </p:spPr>
        <p:txBody>
          <a:bodyPr/>
          <a:lstStyle/>
          <a:p>
            <a:r>
              <a:rPr lang="en-US" dirty="0">
                <a:solidFill>
                  <a:schemeClr val="tx2"/>
                </a:solidFill>
              </a:rPr>
              <a:t>Ola Hallengren</a:t>
            </a:r>
          </a:p>
        </p:txBody>
      </p:sp>
      <p:sp>
        <p:nvSpPr>
          <p:cNvPr id="14" name="Content Placeholder 5">
            <a:extLst>
              <a:ext uri="{FF2B5EF4-FFF2-40B4-BE49-F238E27FC236}">
                <a16:creationId xmlns:a16="http://schemas.microsoft.com/office/drawing/2014/main" id="{657E3F1D-66CC-E52D-D3F1-02595B5F1047}"/>
              </a:ext>
            </a:extLst>
          </p:cNvPr>
          <p:cNvSpPr>
            <a:spLocks noGrp="1"/>
          </p:cNvSpPr>
          <p:nvPr>
            <p:ph idx="13"/>
          </p:nvPr>
        </p:nvSpPr>
        <p:spPr>
          <a:xfrm>
            <a:off x="858416" y="5244387"/>
            <a:ext cx="5601378" cy="553208"/>
          </a:xfrm>
        </p:spPr>
        <p:txBody>
          <a:bodyPr/>
          <a:lstStyle/>
          <a:p>
            <a:r>
              <a:rPr lang="en-US" dirty="0">
                <a:solidFill>
                  <a:schemeClr val="tx2"/>
                </a:solidFill>
              </a:rPr>
              <a:t>ola@hallengren.com</a:t>
            </a:r>
          </a:p>
        </p:txBody>
      </p:sp>
      <p:sp>
        <p:nvSpPr>
          <p:cNvPr id="15" name="Content Placeholder 6">
            <a:extLst>
              <a:ext uri="{FF2B5EF4-FFF2-40B4-BE49-F238E27FC236}">
                <a16:creationId xmlns:a16="http://schemas.microsoft.com/office/drawing/2014/main" id="{A86A9372-E4FA-CDFD-2FFD-025045DD8759}"/>
              </a:ext>
            </a:extLst>
          </p:cNvPr>
          <p:cNvSpPr>
            <a:spLocks noGrp="1"/>
          </p:cNvSpPr>
          <p:nvPr>
            <p:ph idx="14"/>
          </p:nvPr>
        </p:nvSpPr>
        <p:spPr>
          <a:xfrm>
            <a:off x="858416" y="5815450"/>
            <a:ext cx="5601378" cy="553208"/>
          </a:xfrm>
        </p:spPr>
        <p:txBody>
          <a:bodyPr/>
          <a:lstStyle/>
          <a:p>
            <a:r>
              <a:rPr lang="en-US" dirty="0">
                <a:solidFill>
                  <a:schemeClr val="tx2"/>
                </a:solidFill>
              </a:rPr>
              <a:t>https://ola.hallengren.com</a:t>
            </a:r>
          </a:p>
        </p:txBody>
      </p:sp>
      <p:pic>
        <p:nvPicPr>
          <p:cNvPr id="16" name="Graphic 15">
            <a:extLst>
              <a:ext uri="{FF2B5EF4-FFF2-40B4-BE49-F238E27FC236}">
                <a16:creationId xmlns:a16="http://schemas.microsoft.com/office/drawing/2014/main" id="{C8D7B631-C708-6E94-17B1-CE58623902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2585" y="5911458"/>
            <a:ext cx="368937" cy="368937"/>
          </a:xfrm>
          <a:prstGeom prst="rect">
            <a:avLst/>
          </a:prstGeom>
        </p:spPr>
      </p:pic>
      <p:pic>
        <p:nvPicPr>
          <p:cNvPr id="18" name="Graphic 17">
            <a:extLst>
              <a:ext uri="{FF2B5EF4-FFF2-40B4-BE49-F238E27FC236}">
                <a16:creationId xmlns:a16="http://schemas.microsoft.com/office/drawing/2014/main" id="{CE3E3FA1-8E69-C013-7832-BDDD782ACA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8577" y="5390520"/>
            <a:ext cx="356952" cy="356952"/>
          </a:xfrm>
          <a:prstGeom prst="rect">
            <a:avLst/>
          </a:prstGeom>
        </p:spPr>
      </p:pic>
    </p:spTree>
    <p:extLst>
      <p:ext uri="{BB962C8B-B14F-4D97-AF65-F5344CB8AC3E}">
        <p14:creationId xmlns:p14="http://schemas.microsoft.com/office/powerpoint/2010/main" val="158874117"/>
      </p:ext>
    </p:extLst>
  </p:cSld>
  <p:clrMapOvr>
    <a:masterClrMapping/>
  </p:clrMapOvr>
</p:sld>
</file>

<file path=ppt/theme/theme1.xml><?xml version="1.0" encoding="utf-8"?>
<a:theme xmlns:a="http://schemas.openxmlformats.org/drawingml/2006/main" name="Office Theme">
  <a:themeElements>
    <a:clrScheme name="SQLServerGeeks-Summit">
      <a:dk1>
        <a:sysClr val="windowText" lastClr="000000"/>
      </a:dk1>
      <a:lt1>
        <a:sysClr val="window" lastClr="FFFFFF"/>
      </a:lt1>
      <a:dk2>
        <a:srgbClr val="1F497D"/>
      </a:dk2>
      <a:lt2>
        <a:srgbClr val="EEECE1"/>
      </a:lt2>
      <a:accent1>
        <a:srgbClr val="C00000"/>
      </a:accent1>
      <a:accent2>
        <a:srgbClr val="0070C0"/>
      </a:accent2>
      <a:accent3>
        <a:srgbClr val="FC8604"/>
      </a:accent3>
      <a:accent4>
        <a:srgbClr val="92CDDC"/>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26073</TotalTime>
  <Words>1733</Words>
  <Application>Microsoft Office PowerPoint</Application>
  <PresentationFormat>Widescreen</PresentationFormat>
  <Paragraphs>211</Paragraphs>
  <Slides>21</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IBM Plex Sans</vt:lpstr>
      <vt:lpstr>Calibri</vt:lpstr>
      <vt:lpstr>Roboto Regular</vt:lpstr>
      <vt:lpstr>IBM Plex Sans SemiBold</vt:lpstr>
      <vt:lpstr>IBM Plex Sans Text</vt:lpstr>
      <vt:lpstr>IBM Plex Sans Medium</vt:lpstr>
      <vt:lpstr>Arial</vt:lpstr>
      <vt:lpstr>Roboto Bold</vt:lpstr>
      <vt:lpstr>Segoe UI</vt:lpstr>
      <vt:lpstr>Roboto</vt:lpstr>
      <vt:lpstr>Office Theme</vt:lpstr>
      <vt:lpstr>PowerPoint Presentation</vt:lpstr>
      <vt:lpstr>Ola Hallengren</vt:lpstr>
      <vt:lpstr>Ola</vt:lpstr>
      <vt:lpstr>Requirements for Running Trading Systems on SQL Server</vt:lpstr>
      <vt:lpstr>Database Engine Performance Improvements</vt:lpstr>
      <vt:lpstr>Database Engine Performance Improvements </vt:lpstr>
      <vt:lpstr>Optimized Locking</vt:lpstr>
      <vt:lpstr>Optimized sp_executesql</vt:lpstr>
      <vt:lpstr>Optional Parameter Plan Optimization</vt:lpstr>
      <vt:lpstr>Optional Parameter Plan Optimization</vt:lpstr>
      <vt:lpstr>ABORT_QUERY_EXECUTION query hint</vt:lpstr>
      <vt:lpstr>Query Store for secondary replicas</vt:lpstr>
      <vt:lpstr>Query Store for secondary replicas</vt:lpstr>
      <vt:lpstr>Security cache improvements</vt:lpstr>
      <vt:lpstr>Backups on secondary replicas </vt:lpstr>
      <vt:lpstr>Backups on secondary replicas</vt:lpstr>
      <vt:lpstr>ZSTD backup compression algorithm</vt:lpstr>
      <vt:lpstr>ZSTD backup compression algorithm</vt:lpstr>
      <vt:lpstr>Accelerated database recovery in tempdb</vt:lpstr>
      <vt:lpstr>Accelerated database recovery in tempdb</vt:lpstr>
      <vt:lpstr>Thank you!</vt:lpstr>
    </vt:vector>
  </TitlesOfParts>
  <Manager/>
  <Company>RedGate Software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Tom Russell</dc:creator>
  <cp:keywords/>
  <dc:description/>
  <cp:lastModifiedBy>Ola Hallengren</cp:lastModifiedBy>
  <cp:revision>1198</cp:revision>
  <cp:lastPrinted>2025-08-02T19:35:05Z</cp:lastPrinted>
  <dcterms:created xsi:type="dcterms:W3CDTF">2015-11-25T13:50:45Z</dcterms:created>
  <dcterms:modified xsi:type="dcterms:W3CDTF">2025-10-26T19:34:12Z</dcterms:modified>
  <cp:category/>
</cp:coreProperties>
</file>